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9138a70e394ad0" /><Relationship Type="http://schemas.openxmlformats.org/officeDocument/2006/relationships/extended-properties" Target="/docProps/app.xml" Id="R0eb9c1b73b1243d1" /><Relationship Type="http://schemas.openxmlformats.org/officeDocument/2006/relationships/officeDocument" Target="/ppt/presentation.xml" Id="Rba3b105c9fc64fa6" /></Relationships>
</file>

<file path=ppt/presentation.xml><?xml version="1.0" encoding="utf-8"?>
<p:presentation xmlns:p="http://schemas.openxmlformats.org/presentationml/2006/main">
  <p:sldMasterIdLst>
    <p:sldMasterId xmlns:r="http://schemas.openxmlformats.org/officeDocument/2006/relationships" id="2147483648" r:id="R88faaf9071944d36"/>
  </p:sldMasterIdLst>
  <p:notesMasterIdLst>
    <p:notesMasterId xmlns:r="http://schemas.openxmlformats.org/officeDocument/2006/relationships" r:id="R4f487ca19dc040b5"/>
  </p:notesMasterIdLst>
  <p:sldIdLst>
    <p:sldId xmlns:r="http://schemas.openxmlformats.org/officeDocument/2006/relationships" id="256" r:id="R3e0feb20ed504a68"/>
    <p:sldId xmlns:r="http://schemas.openxmlformats.org/officeDocument/2006/relationships" id="257" r:id="R30e2f5b32f6642a4"/>
    <p:sldId xmlns:r="http://schemas.openxmlformats.org/officeDocument/2006/relationships" id="258" r:id="Rf7e64825914147df"/>
    <p:sldId xmlns:r="http://schemas.openxmlformats.org/officeDocument/2006/relationships" id="259" r:id="Rd07116e48ed043d4"/>
    <p:sldId xmlns:r="http://schemas.openxmlformats.org/officeDocument/2006/relationships" id="260" r:id="Re0752803e39c4f00"/>
    <p:sldId xmlns:r="http://schemas.openxmlformats.org/officeDocument/2006/relationships" id="261" r:id="R26a1b4e0961a450b"/>
    <p:sldId xmlns:r="http://schemas.openxmlformats.org/officeDocument/2006/relationships" id="262" r:id="Re45437cc488d4a11"/>
    <p:sldId xmlns:r="http://schemas.openxmlformats.org/officeDocument/2006/relationships" id="263" r:id="Rf93ad4435ecc4132"/>
    <p:sldId xmlns:r="http://schemas.openxmlformats.org/officeDocument/2006/relationships" id="264" r:id="R4716aee7f5434528"/>
    <p:sldId xmlns:r="http://schemas.openxmlformats.org/officeDocument/2006/relationships" id="265" r:id="R1f08ab5c64e64607"/>
  </p:sldIdLst>
  <p:sldSz cx="10692003" cy="6014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2b1cdff7814daa" /><Relationship Type="http://schemas.openxmlformats.org/officeDocument/2006/relationships/slideMaster" Target="/ppt/slideMasters/slideMaster1.xml" Id="R88faaf9071944d36" /><Relationship Type="http://schemas.openxmlformats.org/officeDocument/2006/relationships/notesMaster" Target="/ppt/notesMasters/notesMaster1.xml" Id="R4f487ca19dc040b5" /><Relationship Type="http://schemas.openxmlformats.org/officeDocument/2006/relationships/presProps" Target="/ppt/presProps.xml" Id="Rb1b110a0da084e02" /><Relationship Type="http://schemas.openxmlformats.org/officeDocument/2006/relationships/tableStyles" Target="/ppt/tableStyles.xml" Id="R5a6611bccacc44d2" /><Relationship Type="http://schemas.openxmlformats.org/officeDocument/2006/relationships/slide" Target="/ppt/slides/slide1.xml" Id="R3e0feb20ed504a68" /><Relationship Type="http://schemas.openxmlformats.org/officeDocument/2006/relationships/slide" Target="/ppt/slides/slide2.xml" Id="R30e2f5b32f6642a4" /><Relationship Type="http://schemas.openxmlformats.org/officeDocument/2006/relationships/slide" Target="/ppt/slides/slide3.xml" Id="Rf7e64825914147df" /><Relationship Type="http://schemas.openxmlformats.org/officeDocument/2006/relationships/slide" Target="/ppt/slides/slide4.xml" Id="Rd07116e48ed043d4" /><Relationship Type="http://schemas.openxmlformats.org/officeDocument/2006/relationships/slide" Target="/ppt/slides/slide5.xml" Id="Re0752803e39c4f00" /><Relationship Type="http://schemas.openxmlformats.org/officeDocument/2006/relationships/slide" Target="/ppt/slides/slide6.xml" Id="R26a1b4e0961a450b" /><Relationship Type="http://schemas.openxmlformats.org/officeDocument/2006/relationships/slide" Target="/ppt/slides/slide7.xml" Id="Re45437cc488d4a11" /><Relationship Type="http://schemas.openxmlformats.org/officeDocument/2006/relationships/slide" Target="/ppt/slides/slide8.xml" Id="Rf93ad4435ecc4132" /><Relationship Type="http://schemas.openxmlformats.org/officeDocument/2006/relationships/slide" Target="/ppt/slides/slide9.xml" Id="R4716aee7f5434528" /><Relationship Type="http://schemas.openxmlformats.org/officeDocument/2006/relationships/slide" Target="/ppt/slides/slide10.xml" Id="R1f08ab5c64e646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9b7cab24fd4d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eeac719fbf4d88" /><Relationship Type="http://schemas.openxmlformats.org/officeDocument/2006/relationships/notesMaster" Target="/ppt/notesMasters/notesMaster1.xml" Id="Rd322730b520743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2ddaed73b84ecf" /><Relationship Type="http://schemas.openxmlformats.org/officeDocument/2006/relationships/notesMaster" Target="/ppt/notesMasters/notesMaster1.xml" Id="Rdc207714b75449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e5e85fdcb24faa" /><Relationship Type="http://schemas.openxmlformats.org/officeDocument/2006/relationships/notesMaster" Target="/ppt/notesMasters/notesMaster1.xml" Id="Rd8adc0baa4534c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f709354a4746f9" /><Relationship Type="http://schemas.openxmlformats.org/officeDocument/2006/relationships/notesMaster" Target="/ppt/notesMasters/notesMaster1.xml" Id="R53a5550242394c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ca6bc990ae4fd2" /><Relationship Type="http://schemas.openxmlformats.org/officeDocument/2006/relationships/notesMaster" Target="/ppt/notesMasters/notesMaster1.xml" Id="Ra56d28763433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3f9440a31343be" /><Relationship Type="http://schemas.openxmlformats.org/officeDocument/2006/relationships/notesMaster" Target="/ppt/notesMasters/notesMaster1.xml" Id="R5ca5467b133140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613ddb158d4682" /><Relationship Type="http://schemas.openxmlformats.org/officeDocument/2006/relationships/notesMaster" Target="/ppt/notesMasters/notesMaster1.xml" Id="Ra8b82ea673f24b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0c9a61a3a24510" /><Relationship Type="http://schemas.openxmlformats.org/officeDocument/2006/relationships/notesMaster" Target="/ppt/notesMasters/notesMaster1.xml" Id="R92d9b560ce8c47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468d69dce44914" /><Relationship Type="http://schemas.openxmlformats.org/officeDocument/2006/relationships/notesMaster" Target="/ppt/notesMasters/notesMaster1.xml" Id="R19aabe079e0d4b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fd28dbd749488f" /><Relationship Type="http://schemas.openxmlformats.org/officeDocument/2006/relationships/notesMaster" Target="/ppt/notesMasters/notesMaster1.xml" Id="R37c0f600f1f844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15 seconds]</a:t>
            </a:r>
          </a:p>
          <a:p xmlns:a="http://schemas.openxmlformats.org/drawingml/2006/main">
            <a:r>
              <a:t>This report presents Lingrui Cheng's contributions to tensor4all-rs since the September 22 meeting, together with subsequent integration by other tensor4all developers. The meeting date is October 27, 2026. The report covers library development: tree adaptive patching, TreeRSI, numerical reliability, and the remaining implementation and validation work.</a:t>
            </a:r>
          </a:p>
          <a:p xmlns:a="http://schemas.openxmlformats.org/drawingml/2006/main">
            <a:r>
              <a:t/>
            </a:r>
          </a:p>
          <a:p xmlns:a="http://schemas.openxmlformats.org/drawingml/2006/main">
            <a:r>
              <a:t>Sources:</a:t>
            </a:r>
          </a:p>
          <a:p xmlns:a="http://schemas.openxmlformats.org/drawingml/2006/main">
            <a:r>
              <a:t>https://github.com/tensor4all/tensor4all-rs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a:t>
            </a:r>
          </a:p>
          <a:p xmlns:a="http://schemas.openxmlformats.org/drawingml/2006/main">
            <a:r>
              <a:t>This update continues from the September 22 meeting. It focuses on tree algorithms in the Rust library, developed by Lingrui Cheng in collaboration with Hiroshi Shinaoka and the tensor4all developers. ACI and SRC were already present at the previous meeting. The new work is adaptive patched interpolation on trees, the new TreeRSI implementation, and fixes that make the existing methods more usable. The original ACI, SRC, RSI and patching papers formulate their algorithms for tensor trains. Cheng's contribution is the generalization to branching tree tensor networks and its implementation. Subsequent integration by other developers is distinguished from the initial contribution.</a:t>
            </a:r>
          </a:p>
          <a:p xmlns:a="http://schemas.openxmlformats.org/drawingml/2006/main">
            <a:r>
              <a:t/>
            </a:r>
          </a:p>
          <a:p xmlns:a="http://schemas.openxmlformats.org/drawingml/2006/main">
            <a:r>
              <a:t>Sources:</a:t>
            </a:r>
          </a:p>
          <a:p xmlns:a="http://schemas.openxmlformats.org/drawingml/2006/main">
            <a:r>
              <a:t>https://github.com/tensor4all/tensor4all-rs/pull/900</a:t>
            </a:r>
          </a:p>
          <a:p xmlns:a="http://schemas.openxmlformats.org/drawingml/2006/main">
            <a:r>
              <a:t>https://github.com/tensor4all/tensor4all-rs/pull/907</a:t>
            </a:r>
          </a:p>
          <a:p xmlns:a="http://schemas.openxmlformats.org/drawingml/2006/main">
            <a:r>
              <a:t>https://github.com/tensor4all/tensor4all-rs/pull/646</a:t>
            </a:r>
          </a:p>
          <a:p xmlns:a="http://schemas.openxmlformats.org/drawingml/2006/main">
            <a:r>
              <a:t>https://github.com/tensor4all/tensor4all-rs/pull/694</a:t>
            </a:r>
          </a:p>
          <a:p xmlns:a="http://schemas.openxmlformats.org/drawingml/2006/main">
            <a:r>
              <a:t>https://arxiv.org/abs/2604.00037</a:t>
            </a:r>
          </a:p>
          <a:p xmlns:a="http://schemas.openxmlformats.org/drawingml/2006/main">
            <a:r>
              <a:t>https://arxiv.org/abs/2504.06475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 minute 30 seconds]</a:t>
            </a:r>
          </a:p>
          <a:p xmlns:a="http://schemas.openxmlformats.org/drawingml/2006/main">
            <a:r>
              <a:t>The main addition is adaptive patched interpolation on arbitrary trees. The patch driver asks an engine to interpolate one region. It accepts the result or fixes another site and creates children. Fixed sites do not require deleting tree vertices, so junctions remain connected and all patches keep the same named topology. The engine interface lives in treetn and the driver has no dependency on TreeTCI itself.</a:t>
            </a:r>
          </a:p>
          <a:p xmlns:a="http://schemas.openxmlformats.org/drawingml/2006/main">
            <a:r>
              <a:t>The driver owns the function-value cache. A split transfers the samples into the appropriate children, rather than reevaluating the same points. It can also recycle pivots and use the largest inherited cached values as starting candidates.</a:t>
            </a:r>
          </a:p>
          <a:p xmlns:a="http://schemas.openxmlformats.org/drawingml/2006/main">
            <a:r>
              <a:t>For L2 acceptance, all patches share a pinned reference and the driver measures the residual itself. Small regions can use exhaustive checks. Large regions use samples and an independent audit, which yield estimates rather than a general guarantee. A localized residual can escape both. The patch-size controls prevent indefinite subdivision: a retained patch that fails its allowance is explicitly reported as ToleranceNotMet.</a:t>
            </a:r>
          </a:p>
          <a:p xmlns:a="http://schemas.openxmlformats.org/drawingml/2006/main">
            <a:r>
              <a:t>Cheng's interpolation-line contribution merged in PR 900. The compact representation decision remains deferred. The patched-algebra global error contract is also separate work.</a:t>
            </a:r>
          </a:p>
          <a:p xmlns:a="http://schemas.openxmlformats.org/drawingml/2006/main">
            <a:r>
              <a:t/>
            </a:r>
          </a:p>
          <a:p xmlns:a="http://schemas.openxmlformats.org/drawingml/2006/main">
            <a:r>
              <a:t>Sources:</a:t>
            </a:r>
          </a:p>
          <a:p xmlns:a="http://schemas.openxmlformats.org/drawingml/2006/main">
            <a:r>
              <a:t>https://github.com/tensor4all/tensor4all-rs/pull/900</a:t>
            </a:r>
          </a:p>
          <a:p xmlns:a="http://schemas.openxmlformats.org/drawingml/2006/main">
            <a:r>
              <a:t>https://github.com/tensor4all/tensor4all-rs/blob/main/docs/design/tree-adaptive-patching-roadmap.md</a:t>
            </a:r>
          </a:p>
          <a:p xmlns:a="http://schemas.openxmlformats.org/drawingml/2006/main">
            <a:r>
              <a:t>https://github.com/tensor4all/tensor4all-rs/blob/main/docs/design/tree-patching-error-contract.md</a:t>
            </a:r>
          </a:p>
          <a:p xmlns:a="http://schemas.openxmlformats.org/drawingml/2006/main">
            <a:r>
              <a:t>https://github.com/tensor4all/tensor4all-rs/blob/main/docs/design/tree-pqtci-patch-size-bounds.md</a:t>
            </a:r>
          </a:p>
          <a:p xmlns:a="http://schemas.openxmlformats.org/drawingml/2006/main">
            <a:r>
              <a:t>https://arxiv.org/abs/2602.22372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 minute]</a:t>
            </a:r>
          </a:p>
          <a:p xmlns:a="http://schemas.openxmlformats.org/drawingml/2006/main">
            <a:r>
              <a:t>Cheng contributed the sequential tree interpolation driver. Shinaoka subsequently integrated local and MPI execution through hataori. The old TT-only partitionedtt crate has been removed, so chains and branched trees now share one implementation. The patch driver depends on a common interpolation-engine interface rather than on TreeTCI itself.</a:t>
            </a:r>
          </a:p>
          <a:p xmlns:a="http://schemas.openxmlformats.org/drawingml/2006/main">
            <a:r>
              <a:t>Parallel execution distributes independent patches while keeping a consistent decision order. The numerical work follows the caller's execution resources. Tests compare serial and local execution, and MPI smoke tests cover one and two ranks. These establish functional integration, not parallel speedup. Broader reproducibility and scaling measurements remain open.</a:t>
            </a:r>
          </a:p>
          <a:p xmlns:a="http://schemas.openxmlformats.org/drawingml/2006/main">
            <a:r>
              <a:t/>
            </a:r>
          </a:p>
          <a:p xmlns:a="http://schemas.openxmlformats.org/drawingml/2006/main">
            <a:r>
              <a:t>Sources:</a:t>
            </a:r>
          </a:p>
          <a:p xmlns:a="http://schemas.openxmlformats.org/drawingml/2006/main">
            <a:r>
              <a:t>https://github.com/tensor4all/tensor4all-rs/pull/900</a:t>
            </a:r>
          </a:p>
          <a:p xmlns:a="http://schemas.openxmlformats.org/drawingml/2006/main">
            <a:r>
              <a:t>https://github.com/tensor4all/tensor4all-rs/pull/1005</a:t>
            </a:r>
          </a:p>
          <a:p xmlns:a="http://schemas.openxmlformats.org/drawingml/2006/main">
            <a:r>
              <a:t>https://github.com/tensor4all/tensor4all-rs/pull/1009</a:t>
            </a:r>
          </a:p>
          <a:p xmlns:a="http://schemas.openxmlformats.org/drawingml/2006/main">
            <a:r>
              <a:t>https://github.com/tensor4all/tensor4all-rs/blob/main/crates/tensor4all-partitionedtreetn/README.md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 minute 15 seconds]</a:t>
            </a:r>
          </a:p>
          <a:p xmlns:a="http://schemas.openxmlformats.org/drawingml/2006/main">
            <a:r>
              <a:t>TreeRSI is the other new algorithm in this period. It applies recursive sketched interpolation to simultaneous elementwise products of compatible TreeTNs. The original method is a tensor-train algorithm. On a branching tree, a message must account for the other branches: the implementation handles child and sibling information and the downward environment. The leaf-root tests matter because a junction then has both a parent and siblings, which exercises a different recurrence from a junction-root example.</a:t>
            </a:r>
          </a:p>
          <a:p xmlns:a="http://schemas.openxmlformats.org/drawingml/2006/main">
            <a:r>
              <a:t>To separate implementation differences from random probes, the validation records the NumPy draws in the authors' code and replays them in Rust. The comparison includes 56 DMRG case/cap points and 22 synthetic points. Agreement is at numerical precision within the numerical rank. Three synthetic cases differ after numerical rank, where zero-tolerance LU selects noise-level pivots.</a:t>
            </a:r>
          </a:p>
          <a:p xmlns:a="http://schemas.openxmlformats.org/drawingml/2006/main">
            <a:r>
              <a:t>The branched checks compare against the exact represented product and against TreeACI when both results are accurate. The new two-revision benchmark adds timing evidence: RSI is 2.89 to 4.83 times faster than current TreeACI on four synthetic f64 products, using two operands on chains and binary trees. All four caps are at or above the recorded product cut rank, and the independent dense errors are near machine precision. This supports a claim about these full-reconstruction fixtures, not a speed advantage for truncating compression. Earlier tests still show lower fixed-cap accuracy and wider seed spread on some branched problems.</a:t>
            </a:r>
          </a:p>
          <a:p xmlns:a="http://schemas.openxmlformats.org/drawingml/2006/main">
            <a:r>
              <a:t/>
            </a:r>
          </a:p>
          <a:p xmlns:a="http://schemas.openxmlformats.org/drawingml/2006/main">
            <a:r>
              <a:t>Sources:</a:t>
            </a:r>
          </a:p>
          <a:p xmlns:a="http://schemas.openxmlformats.org/drawingml/2006/main">
            <a:r>
              <a:t>https://github.com/tensor4all/tensor4all-rs/pull/907</a:t>
            </a:r>
          </a:p>
          <a:p xmlns:a="http://schemas.openxmlformats.org/drawingml/2006/main">
            <a:r>
              <a:t>https://github.com/tensor4all/tensor4all-rs/pull/1002</a:t>
            </a:r>
          </a:p>
          <a:p xmlns:a="http://schemas.openxmlformats.org/drawingml/2006/main">
            <a:r>
              <a:t>https://github.com/tensor4all/tensor4all-rs/pull/1012</a:t>
            </a:r>
          </a:p>
          <a:p xmlns:a="http://schemas.openxmlformats.org/drawingml/2006/main">
            <a:r>
              <a:t>https://github.com/tensor4all/tensor4all-rs/blob/main/docs/design/tree-rsi.md</a:t>
            </a:r>
          </a:p>
          <a:p xmlns:a="http://schemas.openxmlformats.org/drawingml/2006/main">
            <a:r>
              <a:t>https://arxiv.org/abs/2602.17974</a:t>
            </a:r>
          </a:p>
          <a:p xmlns:a="http://schemas.openxmlformats.org/drawingml/2006/main">
            <a:r>
              <a:t>t4a-bench-2026-10-27-REPORT.md, G4; fixture.json and observations.jsonl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 minute 15 seconds]</a:t>
            </a:r>
          </a:p>
          <a:p xmlns:a="http://schemas.openxmlformats.org/drawingml/2006/main">
            <a:r>
              <a:t>The repairs fall into three practical groups. First, stronger searches and stopping checks reduce false convergence: TreeTCI keeps improvements while searching and must use newly found pivots before it stops. TreeACI rechecks earlier failing guard points instead of forgetting them after a later random miss. Results distinguish convergence from a rank or iteration limit.</a:t>
            </a:r>
          </a:p>
          <a:p xmlns:a="http://schemas.openxmlformats.org/drawingml/2006/main">
            <a:r>
              <a:t>Second, site-free nodes are important for genuine tree layouts and fixed-site patches. Cheng repaired junction rank growth and basic norms and decompositions. Shinaoka completed further operations, including inner products and SRC. This support is operation-specific; it does not mean every solver accepts site-free states.</a:t>
            </a:r>
          </a:p>
          <a:p xmlns:a="http://schemas.openxmlformats.org/drawingml/2006/main">
            <a:r>
              <a:t>Third, numerical fixes preserve small nonzero contributions, reject non-finite values and align tolerance scaling. Some TreeACI convergence issues remain open. The expensive previous-local-cross retention was withdrawn, while the independent guard-failure checks remain.</a:t>
            </a:r>
          </a:p>
          <a:p xmlns:a="http://schemas.openxmlformats.org/drawingml/2006/main">
            <a:r>
              <a:t/>
            </a:r>
          </a:p>
          <a:p xmlns:a="http://schemas.openxmlformats.org/drawingml/2006/main">
            <a:r>
              <a:t>Sources:</a:t>
            </a:r>
          </a:p>
          <a:p xmlns:a="http://schemas.openxmlformats.org/drawingml/2006/main">
            <a:r>
              <a:t>https://github.com/tensor4all/tensor4all-rs/pull/790</a:t>
            </a:r>
          </a:p>
          <a:p xmlns:a="http://schemas.openxmlformats.org/drawingml/2006/main">
            <a:r>
              <a:t>https://github.com/tensor4all/tensor4all-rs/pull/839</a:t>
            </a:r>
          </a:p>
          <a:p xmlns:a="http://schemas.openxmlformats.org/drawingml/2006/main">
            <a:r>
              <a:t>https://github.com/tensor4all/tensor4all-rs/pull/808</a:t>
            </a:r>
          </a:p>
          <a:p xmlns:a="http://schemas.openxmlformats.org/drawingml/2006/main">
            <a:r>
              <a:t>https://github.com/tensor4all/tensor4all-rs/pull/799</a:t>
            </a:r>
          </a:p>
          <a:p xmlns:a="http://schemas.openxmlformats.org/drawingml/2006/main">
            <a:r>
              <a:t>https://github.com/tensor4all/tensor4all-rs/pull/986</a:t>
            </a:r>
          </a:p>
          <a:p xmlns:a="http://schemas.openxmlformats.org/drawingml/2006/main">
            <a:r>
              <a:t>https://github.com/tensor4all/tensor4all-rs/pull/838</a:t>
            </a:r>
          </a:p>
          <a:p xmlns:a="http://schemas.openxmlformats.org/drawingml/2006/main">
            <a:r>
              <a:t>https://github.com/tensor4all/tensor4all-rs/pull/840</a:t>
            </a:r>
          </a:p>
          <a:p xmlns:a="http://schemas.openxmlformats.org/drawingml/2006/main">
            <a:r>
              <a:t>https://github.com/tensor4all/tensor4all-rs/pull/855</a:t>
            </a:r>
          </a:p>
          <a:p xmlns:a="http://schemas.openxmlformats.org/drawingml/2006/main">
            <a:r>
              <a:t>https://github.com/tensor4all/tensor4all-rs/pull/861</a:t>
            </a:r>
          </a:p>
          <a:p xmlns:a="http://schemas.openxmlformats.org/drawingml/2006/main">
            <a:r>
              <a:t>https://github.com/tensor4all/tensor4all-rs/pull/895</a:t>
            </a:r>
          </a:p>
          <a:p xmlns:a="http://schemas.openxmlformats.org/drawingml/2006/main">
            <a:r>
              <a:t>https://github.com/tensor4all/tensor4all-rs/issues/854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 minute]</a:t>
            </a:r>
          </a:p>
          <a:p xmlns:a="http://schemas.openxmlformats.org/drawingml/2006/main">
            <a:r>
              <a:t>There are two distinct ways to avoid repeated work. The cached evaluator speeds up evaluating the current tensor-network approximation by reusing contractions. The optional target memo stores values returned by the original function, so repeated requests need not call that function again. The target memo is disabled by default and requires a stable value for each point during a run.</a:t>
            </a:r>
          </a:p>
          <a:p xmlns:a="http://schemas.openxmlformats.org/drawingml/2006/main">
            <a:r>
              <a:t>The costly-oracle benchmark illustrates the distinction. On a synthetic branch case, current main is 4.2 times faster than the old version with memo off, and 12.8 times faster with memo on. The additional memo benefit within current main is therefore about three times. This is evidence for an expensive synthetic callback, not a general throughput claim.</a:t>
            </a:r>
          </a:p>
          <a:p xmlns:a="http://schemas.openxmlformats.org/drawingml/2006/main">
            <a:r>
              <a:t>Finite cache and buffer policies reduce memory pressure. They also have workload-dependent overhead, shown on the later costs page. They do not impose an upper bound on total process memory.</a:t>
            </a:r>
          </a:p>
          <a:p xmlns:a="http://schemas.openxmlformats.org/drawingml/2006/main">
            <a:r>
              <a:t/>
            </a:r>
          </a:p>
          <a:p xmlns:a="http://schemas.openxmlformats.org/drawingml/2006/main">
            <a:r>
              <a:t>Sources:</a:t>
            </a:r>
          </a:p>
          <a:p xmlns:a="http://schemas.openxmlformats.org/drawingml/2006/main">
            <a:r>
              <a:t>https://github.com/tensor4all/tensor4all-rs/pull/798</a:t>
            </a:r>
          </a:p>
          <a:p xmlns:a="http://schemas.openxmlformats.org/drawingml/2006/main">
            <a:r>
              <a:t>https://github.com/tensor4all/tensor4all-rs/pull/865</a:t>
            </a:r>
          </a:p>
          <a:p xmlns:a="http://schemas.openxmlformats.org/drawingml/2006/main">
            <a:r>
              <a:t>https://github.com/tensor4all/tensor4all-rs/pull/852</a:t>
            </a:r>
          </a:p>
          <a:p xmlns:a="http://schemas.openxmlformats.org/drawingml/2006/main">
            <a:r>
              <a:t>https://github.com/tensor4all/tensor4all-rs/pull/846</a:t>
            </a:r>
          </a:p>
          <a:p xmlns:a="http://schemas.openxmlformats.org/drawingml/2006/main">
            <a:r>
              <a:t>t4a-bench-2026-10-27-REPORT.md, G2 and G5x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 minute 10 seconds]</a:t>
            </a:r>
          </a:p>
          <a:p xmlns:a="http://schemas.openxmlformats.org/drawingml/2006/main">
            <a:r>
              <a:t>These are selected improvements from the frozen two-revision comparison. The old revision is 4fee1a327ed6b1861fa1d0ea36a00559d0fe078f, main at the September 22 meeting, and the new revision is 9222cbeec2e62b512b546685a4b513b139757136, dated October 22. The two versions span 156 first-parent commits by the whole team, plus tenferro and hataori dependency updates and a change in CPU kernel provider. The bars are descriptive workload results and are not attributed entirely to one author.</a:t>
            </a:r>
          </a:p>
          <a:p xmlns:a="http://schemas.openxmlformats.org/drawingml/2006/main">
            <a:r>
              <a:t>The TreeTCI tree case drops from 0.8951 to 0.0540 seconds with similar independent error, a 16.6-times gain. The synthetic costly-oracle case drops from 725.2 to 56.8 milliseconds with target memo enabled, a 12.8-times gain. Current main with memo off is already 4.2 times faster than old. Cached readout and fewer target calls are distinct mechanisms. The separate 129-site chain in the report improves 14.9 times.</a:t>
            </a:r>
          </a:p>
          <a:p xmlns:a="http://schemas.openxmlformats.org/drawingml/2006/main">
            <a:r>
              <a:t>Warm hinted readout is a 64-point, fully cached chain query at chi=256 with identical explicit cache and batch settings: 401.945 to 87.885 microseconds. It benefits from the borrowed two-column cut path. Tree SRC is fixed-rank binary-tree MPO-MPO, 8.006 to 2.754 milliseconds, with equal measured error 6.606e-8. Profiled contraction signatures and call counts match while per-call einsum cost decreases; no single-PR attribution is established. Patched addition uses the same tree crate and exact-gain harness in both versions: 38.382 to 23.597 milliseconds, with unchanged patch counts and approximately 2e-15 error. Its mechanism is not isolated.</a:t>
            </a:r>
          </a:p>
          <a:p xmlns:a="http://schemas.openxmlformats.org/drawingml/2006/main">
            <a:r>
              <a:t>Every displayed bar uses the median of five alternating rounds on one pinned CPU thread. The original report retains ranges and cases with no gain or regressions. These results do not measure parallel scaling.</a:t>
            </a:r>
          </a:p>
          <a:p xmlns:a="http://schemas.openxmlformats.org/drawingml/2006/main">
            <a:r>
              <a:t/>
            </a:r>
          </a:p>
          <a:p xmlns:a="http://schemas.openxmlformats.org/drawingml/2006/main">
            <a:r>
              <a:t>Sources:</a:t>
            </a:r>
          </a:p>
          <a:p xmlns:a="http://schemas.openxmlformats.org/drawingml/2006/main">
            <a:r>
              <a:t>t4a-bench-2026-10-27-REPORT.md, G1/G2/G5x/G6/G7a2</a:t>
            </a:r>
          </a:p>
          <a:p xmlns:a="http://schemas.openxmlformats.org/drawingml/2006/main">
            <a:r>
              <a:t>t4a-bench-2026-10-27/figures/speedup_rows.csv</a:t>
            </a:r>
          </a:p>
          <a:p xmlns:a="http://schemas.openxmlformats.org/drawingml/2006/main">
            <a:r>
              <a:t>t4a-bench-2026-10-27/PROTOCOL.md</a:t>
            </a:r>
          </a:p>
          <a:p xmlns:a="http://schemas.openxmlformats.org/drawingml/2006/main">
            <a:r>
              <a:t>https://github.com/tensor4all/tensor4all-rs/pull/798</a:t>
            </a:r>
          </a:p>
          <a:p xmlns:a="http://schemas.openxmlformats.org/drawingml/2006/main">
            <a:r>
              <a:t>https://github.com/tensor4all/tensor4all-rs/pull/852</a:t>
            </a:r>
          </a:p>
          <a:p xmlns:a="http://schemas.openxmlformats.org/drawingml/2006/main">
            <a:r>
              <a:t>https://github.com/tensor4all/tensor4all-rs/pull/865</a:t>
            </a:r>
          </a:p>
          <a:p xmlns:a="http://schemas.openxmlformats.org/drawingml/2006/main">
            <a:r>
              <a:t>https://github.com/tensor4all/tensor4all-rs/commit/4fee1a327ed6b1861fa1d0ea36a00559d0fe078f</a:t>
            </a:r>
          </a:p>
          <a:p xmlns:a="http://schemas.openxmlformats.org/drawingml/2006/main">
            <a:r>
              <a:t>https://github.com/tensor4all/tensor4all-rs/commit/9222cbeec2e62b512b546685a4b513b139757136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 minute 35 seconds]</a:t>
            </a:r>
          </a:p>
          <a:p xmlns:a="http://schemas.openxmlformats.org/drawingml/2006/main">
            <a:r>
              <a:t>The positive bars do not describe every workload. In the four high-rank Hadamard fixtures, current TreeACI is 1.50 to 2.08 times slower than the old version. Source inspection and the separate diagnostics runs identify the main reason: the old schedule skipped global Guard when no cut had injection capacity, whereas the new schedule still detects a residual and can report a rank limit. The cases found no additional pivots, so they show the cost of the added correctness check. Small branch-cost fixtures show larger slowdowns. For degree three, the median new/old time ratio over eight configurations is approximately 1.62, rather than the 1.15 ratio of the single least-regressed case selected in the supplied overview figure.</a:t>
            </a:r>
          </a:p>
          <a:p xmlns:a="http://schemas.openxmlformats.org/drawingml/2006/main">
            <a:r>
              <a:t>Default cache limits also have a cost. The new evaluator bounds message and slice caches and chunks work based on local tensor size. In the degree-three chi=64 fixture, the defaults yield 1.3 to 1.5 times longer execution, while the same explicit cache/chunk settings return performance to approximately parity. The limits protect memory but their effect depends on the topology and rank.</a:t>
            </a:r>
          </a:p>
          <a:p xmlns:a="http://schemas.openxmlformats.org/drawingml/2006/main">
            <a:r>
              <a:t>The right side is one patching counterexample, not a general verdict on adaptive patching. For eta=0.03 the old monolithic run takes 27.8525 seconds and the new patched run 111.0135 seconds. Independent 4,000-point relative L2 estimates are 3.1265e-5 and 3.8008e-4. Thus the patched run is both slower and less accurate here. Its oracle point count falls from 81.04 million to 13.91 million, but stored parameters grow from 2.015 million to 10.038 million. It also imposes cap 64, versus no cap on the monolithic arm, and uses a sampled-max driver criterion. This is a measured configuration tradeoff, not a matched-error speedup. A benefit for sufficiently expensive oracles remains a hypothesis for this workload.</a:t>
            </a:r>
          </a:p>
          <a:p xmlns:a="http://schemas.openxmlformats.org/drawingml/2006/main">
            <a:r>
              <a:t/>
            </a:r>
          </a:p>
          <a:p xmlns:a="http://schemas.openxmlformats.org/drawingml/2006/main">
            <a:r>
              <a:t>Sources:</a:t>
            </a:r>
          </a:p>
          <a:p xmlns:a="http://schemas.openxmlformats.org/drawingml/2006/main">
            <a:r>
              <a:t>t4a-bench-2026-10-27-REPORT.md, G3/G4/G5/G5x/G7b</a:t>
            </a:r>
          </a:p>
          <a:p xmlns:a="http://schemas.openxmlformats.org/drawingml/2006/main">
            <a:r>
              <a:t>t4a-bench-2026-10-27/results/main/raw.jsonl</a:t>
            </a:r>
          </a:p>
          <a:p xmlns:a="http://schemas.openxmlformats.org/drawingml/2006/main">
            <a:r>
              <a:t>t4a-bench-2026-10-27/diag/aci-diag-binary128-new.jsonl</a:t>
            </a:r>
          </a:p>
          <a:p xmlns:a="http://schemas.openxmlformats.org/drawingml/2006/main">
            <a:r>
              <a:t>https://github.com/tensor4all/tensor4all-rs/pull/855</a:t>
            </a:r>
          </a:p>
          <a:p xmlns:a="http://schemas.openxmlformats.org/drawingml/2006/main">
            <a:r>
              <a:t>https://github.com/tensor4all/tensor4all-rs/pull/846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 minute]</a:t>
            </a:r>
          </a:p>
          <a:p xmlns:a="http://schemas.openxmlformats.org/drawingml/2006/main">
            <a:r>
              <a:t>The interpolation line is in main: the engine seam, tree driver, measured-error reporting and patch-size controls. The compact patch representation is still a deferred decision. Later integration also provides local and MPI interpolation, so parallel execution is no longer entirely future work.</a:t>
            </a:r>
          </a:p>
          <a:p xmlns:a="http://schemas.openxmlformats.org/drawingml/2006/main">
            <a:r>
              <a:t>The largest algorithmic gap is the complete adaptive patched contraction workflow, especially patched MPO-MPO: exposing saturation early, refining only the inputs that caused a failed output, recomputing only those outputs and merging compatible neighbors within the error allowance. Existing contract_adaptive is useful groundwork but does not complete that roadmap.</a:t>
            </a:r>
          </a:p>
          <a:p xmlns:a="http://schemas.openxmlformats.org/drawingml/2006/main">
            <a:r>
              <a:t>The benchmark adds concrete performance questions: reduce Guard overhead while preserving its detection contract, study bounded-cache defaults on branching nodes, and understand patch overhead and storage on workloads with delocalized features. Matched-accuracy RSI timing in a genuinely truncating regime and multi-thread or MPI scaling remain open. The sampled-error blind spot and the remaining TreeACI convergence problems are also still priorities.</a:t>
            </a:r>
          </a:p>
          <a:p xmlns:a="http://schemas.openxmlformats.org/drawingml/2006/main">
            <a:r>
              <a:t/>
            </a:r>
          </a:p>
          <a:p xmlns:a="http://schemas.openxmlformats.org/drawingml/2006/main">
            <a:r>
              <a:t>Sources:</a:t>
            </a:r>
          </a:p>
          <a:p xmlns:a="http://schemas.openxmlformats.org/drawingml/2006/main">
            <a:r>
              <a:t>https://github.com/tensor4all/tensor4all-rs/blob/main/docs/design/tree-adaptive-patching-roadmap.md</a:t>
            </a:r>
          </a:p>
          <a:p xmlns:a="http://schemas.openxmlformats.org/drawingml/2006/main">
            <a:r>
              <a:t>https://github.com/tensor4all/tensor4all-rs/blob/main/docs/design/treetn-contraction-outcome.md</a:t>
            </a:r>
          </a:p>
          <a:p xmlns:a="http://schemas.openxmlformats.org/drawingml/2006/main">
            <a:r>
              <a:t>https://github.com/tensor4all/tensor4all-rs/blob/main/docs/design/tree-patching-error-contract.md</a:t>
            </a:r>
          </a:p>
          <a:p xmlns:a="http://schemas.openxmlformats.org/drawingml/2006/main">
            <a:r>
              <a:t>https://github.com/tensor4all/tensor4all-rs/issues/854</a:t>
            </a:r>
          </a:p>
          <a:p xmlns:a="http://schemas.openxmlformats.org/drawingml/2006/main">
            <a:r>
              <a:t>https://github.com/tensor4all/tensor4all-rs/pull/1005</a:t>
            </a:r>
          </a:p>
          <a:p xmlns:a="http://schemas.openxmlformats.org/drawingml/2006/main">
            <a:r>
              <a:t>t4a-bench-2026-10-27-REPORT.md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94838ed8cb42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a0c462775440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616ba8c88846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3b2158e39f4f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c98b0481f14f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d84c75bce447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3AF51A-53E4-46F7-B820-6F79D47D3DC2}"/>
              </a:ext>
            </a:extLst>
          </p:cNvPr>
          <p:cNvSpPr>
            <a:spLocks xmlns:a="http://schemas.openxmlformats.org/drawingml/2006/main" noGrp="1"/>
          </p:cNvSpPr>
          <p:nvPr>
            <p:ph type="title" idx="0"/>
          </p:nvPr>
        </p:nvSpPr>
        <p:spPr>
          <a:xfrm xmlns:a="http://schemas.openxmlformats.org/drawingml/2006/main">
            <a:off x="1069200" y="2272050"/>
            <a:ext cx="8553602" cy="8687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8B24F4-7658-41F6-8C8A-731DB457994E}"/>
              </a:ext>
            </a:extLst>
          </p:cNvPr>
          <p:cNvSpPr>
            <a:spLocks xmlns:a="http://schemas.openxmlformats.org/drawingml/2006/main" noGrp="1"/>
          </p:cNvSpPr>
          <p:nvPr>
            <p:ph type="subTitle" idx="1"/>
          </p:nvPr>
        </p:nvSpPr>
        <p:spPr>
          <a:xfrm xmlns:a="http://schemas.openxmlformats.org/drawingml/2006/main">
            <a:off x="1603800" y="3307838"/>
            <a:ext cx="7484402" cy="66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842"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13E28C-4951-442B-8DCB-99B545286F57}"/>
              </a:ext>
            </a:extLst>
          </p:cNvPr>
          <p:cNvSpPr>
            <a:spLocks xmlns:a="http://schemas.openxmlformats.org/drawingml/2006/main" noGrp="1"/>
          </p:cNvSpPr>
          <p:nvPr>
            <p:ph type="title" idx="0"/>
          </p:nvPr>
        </p:nvSpPr>
        <p:spPr>
          <a:xfrm xmlns:a="http://schemas.openxmlformats.org/drawingml/2006/main">
            <a:off x="1069200" y="2505938"/>
            <a:ext cx="8553602" cy="1002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8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4BB7E2-705F-4928-8C3B-ABADBF94F2A6}"/>
              </a:ext>
            </a:extLst>
          </p:cNvPr>
          <p:cNvSpPr>
            <a:spLocks xmlns:a="http://schemas.openxmlformats.org/drawingml/2006/main" noGrp="1"/>
          </p:cNvSpPr>
          <p:nvPr>
            <p:ph type="title" idx="0"/>
          </p:nvPr>
        </p:nvSpPr>
        <p:spPr>
          <a:xfrm xmlns:a="http://schemas.openxmlformats.org/drawingml/2006/main">
            <a:off x="601425" y="467775"/>
            <a:ext cx="9489153" cy="7350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8A3910-A716-4864-820E-6CE23EA25A46}"/>
              </a:ext>
            </a:extLst>
          </p:cNvPr>
          <p:cNvSpPr>
            <a:spLocks xmlns:a="http://schemas.openxmlformats.org/drawingml/2006/main" noGrp="1"/>
          </p:cNvSpPr>
          <p:nvPr>
            <p:ph type="body" idx="1"/>
          </p:nvPr>
        </p:nvSpPr>
        <p:spPr>
          <a:xfrm xmlns:a="http://schemas.openxmlformats.org/drawingml/2006/main">
            <a:off x="601425" y="1670625"/>
            <a:ext cx="9489153" cy="3742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73"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2EA3AE-B7DC-4358-BB1C-58DC5FADDAF7}"/>
              </a:ext>
            </a:extLst>
          </p:cNvPr>
          <p:cNvSpPr>
            <a:spLocks xmlns:a="http://schemas.openxmlformats.org/drawingml/2006/main" noGrp="1"/>
          </p:cNvSpPr>
          <p:nvPr>
            <p:ph type="title" idx="0"/>
          </p:nvPr>
        </p:nvSpPr>
        <p:spPr>
          <a:xfrm xmlns:a="http://schemas.openxmlformats.org/drawingml/2006/main">
            <a:off x="601425" y="467775"/>
            <a:ext cx="9489153" cy="7350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D34AE6-D408-43C1-BAE9-E4F754C72EBC}"/>
              </a:ext>
            </a:extLst>
          </p:cNvPr>
          <p:cNvSpPr>
            <a:spLocks xmlns:a="http://schemas.openxmlformats.org/drawingml/2006/main" noGrp="1"/>
          </p:cNvSpPr>
          <p:nvPr>
            <p:ph type="body" idx="1"/>
          </p:nvPr>
        </p:nvSpPr>
        <p:spPr>
          <a:xfrm xmlns:a="http://schemas.openxmlformats.org/drawingml/2006/main">
            <a:off x="601425" y="1670625"/>
            <a:ext cx="4410451" cy="3742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42"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DDB5C2-0F47-4A27-9D97-26FED7D0486D}"/>
              </a:ext>
            </a:extLst>
          </p:cNvPr>
          <p:cNvSpPr>
            <a:spLocks xmlns:a="http://schemas.openxmlformats.org/drawingml/2006/main" noGrp="1"/>
          </p:cNvSpPr>
          <p:nvPr>
            <p:ph type="body" idx="2"/>
          </p:nvPr>
        </p:nvSpPr>
        <p:spPr>
          <a:xfrm xmlns:a="http://schemas.openxmlformats.org/drawingml/2006/main">
            <a:off x="5680127" y="1670625"/>
            <a:ext cx="4410451" cy="3742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42"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B7FF67-8BEA-4B67-9409-AF758C6F1F25}"/>
              </a:ext>
            </a:extLst>
          </p:cNvPr>
          <p:cNvSpPr>
            <a:spLocks xmlns:a="http://schemas.openxmlformats.org/drawingml/2006/main" noGrp="1"/>
          </p:cNvSpPr>
          <p:nvPr>
            <p:ph type="title" idx="0"/>
          </p:nvPr>
        </p:nvSpPr>
        <p:spPr>
          <a:xfrm xmlns:a="http://schemas.openxmlformats.org/drawingml/2006/main">
            <a:off x="601425" y="467775"/>
            <a:ext cx="9489153" cy="7350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A28B13-A2FA-4641-ABE7-FCEA6D2A6123}"/>
              </a:ext>
            </a:extLst>
          </p:cNvPr>
          <p:cNvSpPr>
            <a:spLocks xmlns:a="http://schemas.openxmlformats.org/drawingml/2006/main" noGrp="1"/>
          </p:cNvSpPr>
          <p:nvPr>
            <p:ph type="body" idx="1"/>
          </p:nvPr>
        </p:nvSpPr>
        <p:spPr>
          <a:xfrm xmlns:a="http://schemas.openxmlformats.org/drawingml/2006/main">
            <a:off x="601425" y="1670625"/>
            <a:ext cx="4410451" cy="3742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73"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cf016854054a0e" /><Relationship Type="http://schemas.openxmlformats.org/officeDocument/2006/relationships/slideLayout" Target="/ppt/slideLayouts/slideLayout1.xml" Id="R79edc58af4fd4b2d" /><Relationship Type="http://schemas.openxmlformats.org/officeDocument/2006/relationships/slideLayout" Target="/ppt/slideLayouts/slideLayout2.xml" Id="Rdea6a96507bc41df" /><Relationship Type="http://schemas.openxmlformats.org/officeDocument/2006/relationships/slideLayout" Target="/ppt/slideLayouts/slideLayout3.xml" Id="Rcca2f400c5314c03" /><Relationship Type="http://schemas.openxmlformats.org/officeDocument/2006/relationships/slideLayout" Target="/ppt/slideLayouts/slideLayout4.xml" Id="R7b2fd86f9ead4d9b" /><Relationship Type="http://schemas.openxmlformats.org/officeDocument/2006/relationships/slideLayout" Target="/ppt/slideLayouts/slideLayout5.xml" Id="R99184a103eda4803" /><Relationship Type="http://schemas.openxmlformats.org/officeDocument/2006/relationships/slideLayout" Target="/ppt/slideLayouts/slideLayout6.xml" Id="R7e9a7321666b40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edc58af4fd4b2d"/>
    <p:sldLayoutId xmlns:r="http://schemas.openxmlformats.org/officeDocument/2006/relationships" id="2147483650" r:id="Rdea6a96507bc41df"/>
    <p:sldLayoutId xmlns:r="http://schemas.openxmlformats.org/officeDocument/2006/relationships" id="2147483651" r:id="Rcca2f400c5314c03"/>
    <p:sldLayoutId xmlns:r="http://schemas.openxmlformats.org/officeDocument/2006/relationships" id="2147483652" r:id="R7b2fd86f9ead4d9b"/>
    <p:sldLayoutId xmlns:r="http://schemas.openxmlformats.org/officeDocument/2006/relationships" id="2147483653" r:id="R99184a103eda4803"/>
    <p:sldLayoutId xmlns:r="http://schemas.openxmlformats.org/officeDocument/2006/relationships" id="2147483654" r:id="R7e9a7321666b40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6275c916e454a33" /><Relationship Type="http://schemas.openxmlformats.org/officeDocument/2006/relationships/hyperlink" Target="https://github.com/tensor4all/tensor4all-rs" TargetMode="External" Id="R86eb62c50fc14d2a" /><Relationship Type="http://schemas.openxmlformats.org/officeDocument/2006/relationships/notesSlide" Target="/ppt/notesSlides/notesSlide1.xml" Id="R08b4f49c195b46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b116b57e4d44e4" /><Relationship Type="http://schemas.openxmlformats.org/officeDocument/2006/relationships/hyperlink" Target="https://github.com/tensor4all/tensor4all-rs" TargetMode="External" Id="R083cd71e0ebc4d2d" /><Relationship Type="http://schemas.openxmlformats.org/officeDocument/2006/relationships/hyperlink" Target="https://github.com/tensor4all/tensor4all-rs" TargetMode="External" Id="R5844b7a7fe604519" /><Relationship Type="http://schemas.openxmlformats.org/officeDocument/2006/relationships/hyperlink" Target="https://arxiv.org/abs/2604.00037" TargetMode="External" Id="R3055aae920d643e4" /><Relationship Type="http://schemas.openxmlformats.org/officeDocument/2006/relationships/hyperlink" Target="https://arxiv.org/abs/2504.06475" TargetMode="External" Id="R95b124cb7c504568" /><Relationship Type="http://schemas.openxmlformats.org/officeDocument/2006/relationships/notesSlide" Target="/ppt/notesSlides/notesSlide2.xml" Id="R1180afa6e7d148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544d1ef16c4e25" /><Relationship Type="http://schemas.openxmlformats.org/officeDocument/2006/relationships/hyperlink" Target="https://github.com/tensor4all/tensor4all-rs" TargetMode="External" Id="R8ce9e32e66934734" /><Relationship Type="http://schemas.openxmlformats.org/officeDocument/2006/relationships/hyperlink" Target="https://arxiv.org/abs/2602.22372" TargetMode="External" Id="Rd58f3334e4404a5b" /><Relationship Type="http://schemas.openxmlformats.org/officeDocument/2006/relationships/notesSlide" Target="/ppt/notesSlides/notesSlide3.xml" Id="Rd0185ea9a12c45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4063596fa7469a" /><Relationship Type="http://schemas.openxmlformats.org/officeDocument/2006/relationships/hyperlink" Target="https://github.com/tensor4all/tensor4all-rs" TargetMode="External" Id="R3f80e95ff9df431e" /><Relationship Type="http://schemas.openxmlformats.org/officeDocument/2006/relationships/hyperlink" Target="https://github.com/tensor4all/tensor4all-rs/blob/main/crates/tensor4all-partitionedtreetn/README.md" TargetMode="External" Id="R574a5475fe3648dc" /><Relationship Type="http://schemas.openxmlformats.org/officeDocument/2006/relationships/notesSlide" Target="/ppt/notesSlides/notesSlide4.xml" Id="R4c1cafb3e21846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e649f4697b46fa" /><Relationship Type="http://schemas.openxmlformats.org/officeDocument/2006/relationships/hyperlink" Target="https://github.com/tensor4all/tensor4all-rs" TargetMode="External" Id="Rf9d0a4f8fd584c67" /><Relationship Type="http://schemas.openxmlformats.org/officeDocument/2006/relationships/hyperlink" Target="https://arxiv.org/abs/2602.17974" TargetMode="External" Id="R5844af4b7ba9445a" /><Relationship Type="http://schemas.openxmlformats.org/officeDocument/2006/relationships/notesSlide" Target="/ppt/notesSlides/notesSlide5.xml" Id="Recebe81f4feb4a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13d9216bc74f8e" /><Relationship Type="http://schemas.openxmlformats.org/officeDocument/2006/relationships/hyperlink" Target="https://github.com/tensor4all/tensor4all-rs" TargetMode="External" Id="Ra7868c8268014629" /><Relationship Type="http://schemas.openxmlformats.org/officeDocument/2006/relationships/hyperlink" Target="https://github.com/tensor4all/tensor4all-rs/pull/799" TargetMode="External" Id="R476cf51ee1c34c14" /><Relationship Type="http://schemas.openxmlformats.org/officeDocument/2006/relationships/notesSlide" Target="/ppt/notesSlides/notesSlide6.xml" Id="R0d9647e8649c40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59b8247dcd8413d" /><Relationship Type="http://schemas.openxmlformats.org/officeDocument/2006/relationships/hyperlink" Target="https://github.com/tensor4all/tensor4all-rs" TargetMode="External" Id="R8b25934f783f4fe3" /><Relationship Type="http://schemas.openxmlformats.org/officeDocument/2006/relationships/hyperlink" Target="https://github.com/tensor4all/tensor4all-rs/pull/852" TargetMode="External" Id="R5dd7568918644142" /><Relationship Type="http://schemas.openxmlformats.org/officeDocument/2006/relationships/notesSlide" Target="/ppt/notesSlides/notesSlide7.xml" Id="R88c2ec65e40b4b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6d322dbb92d41d8" /><Relationship Type="http://schemas.openxmlformats.org/officeDocument/2006/relationships/hyperlink" Target="https://github.com/tensor4all/tensor4all-rs" TargetMode="External" Id="R968cd8e422c04e64" /><Relationship Type="http://schemas.openxmlformats.org/officeDocument/2006/relationships/chart" Target="/ppt/slides/charts/chart1.xml" Id="R3efe5fdeecb94f8a" /><Relationship Type="http://schemas.openxmlformats.org/officeDocument/2006/relationships/notesSlide" Target="/ppt/notesSlides/notesSlide8.xml" Id="Rfef78cb2d4884f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5898ae8f252438c" /><Relationship Type="http://schemas.openxmlformats.org/officeDocument/2006/relationships/hyperlink" Target="https://github.com/tensor4all/tensor4all-rs" TargetMode="External" Id="Rb107c8f2e0694e80" /><Relationship Type="http://schemas.openxmlformats.org/officeDocument/2006/relationships/notesSlide" Target="/ppt/notesSlides/notesSlide9.xml" Id="R70184c2c936c49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90f816488b498b" /><Relationship Type="http://schemas.openxmlformats.org/officeDocument/2006/relationships/hyperlink" Target="https://github.com/tensor4all/tensor4all-rs" TargetMode="External" Id="Ra33d50605b844fc5" /><Relationship Type="http://schemas.openxmlformats.org/officeDocument/2006/relationships/hyperlink" Target="https://github.com/tensor4all/tensor4all-rs/blob/main/docs/design/tree-adaptive-patching-roadmap.md" TargetMode="External" Id="R42728b8af7454a7d" /><Relationship Type="http://schemas.openxmlformats.org/officeDocument/2006/relationships/notesSlide" Target="/ppt/notesSlides/notesSlide10.xml" Id="Rf78d15e819e040f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Speedup (old / new)</c:v>
          </c:tx>
          <c:spPr>
            <a:solidFill xmlns:a="http://schemas.openxmlformats.org/drawingml/2006/main">
              <a:srgbClr val="E94F37"/>
            </a:solidFill>
          </c:spPr>
          <c:invertIfNegative val="0"/>
          <c:cat>
            <c:strRef>
              <c:f>'Chart Data'!$A$2:$A$6</c:f>
              <c:strCache>
                <c:ptCount val="5"/>
                <c:pt idx="0">
                  <c:v>TreeTCI: 31-node tree</c:v>
                </c:pt>
                <c:pt idx="1">
                  <c:v>Costly oracle + memo</c:v>
                </c:pt>
                <c:pt idx="2">
                  <c:v>Warm hinted readout</c:v>
                </c:pt>
                <c:pt idx="3">
                  <c:v>Tree SRC: fixed rank</c:v>
                </c:pt>
                <c:pt idx="4">
                  <c:v>Patched addition</c:v>
                </c:pt>
              </c:strCache>
            </c:strRef>
          </c:cat>
          <c:val>
            <c:numRef>
              <c:f>'Chart Data'!$B$2:$B$6</c:f>
              <c:numCache>
                <c:formatCode>0.0"×"</c:formatCode>
                <c:ptCount val="5"/>
                <c:pt idx="0">
                  <c:v>16.578161</c:v>
                </c:pt>
                <c:pt idx="1">
                  <c:v>12.772826</c:v>
                </c:pt>
                <c:pt idx="2">
                  <c:v>4.573534</c:v>
                </c:pt>
                <c:pt idx="3">
                  <c:v>2.907044</c:v>
                </c:pt>
                <c:pt idx="4">
                  <c:v>1.626514</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600" b="1">
                  <a:solidFill>
                    <a:srgbClr val="000000"/>
                  </a:solidFill>
                  <a:latin typeface="Hiragino Sans"/>
                  <a:ea typeface="Hiragino Sans"/>
                  <a:cs typeface="Hiragino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majorGridlines>
          <c:spPr>
            <a:ln xmlns:a="http://schemas.openxmlformats.org/drawingml/2006/main" w="5715">
              <a:solidFill>
                <a:srgbClr val="DDDDDD"/>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777777"/>
                </a:solidFill>
                <a:latin typeface="Hiragino Sans"/>
                <a:ea typeface="Hiragino Sans"/>
                <a:cs typeface="Hiragino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00">
                <a:solidFill>
                  <a:srgbClr val="000000"/>
                </a:solidFill>
                <a:latin typeface="Hiragino Sans"/>
                <a:ea typeface="Hiragino Sans"/>
                <a:cs typeface="Hiragino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ver-title">
            <a:extLst xmlns:a="http://schemas.openxmlformats.org/drawingml/2006/main">
              <a:ext uri="{FF2B5EF4-FFF2-40B4-BE49-F238E27FC236}">
                <a16:creationId xmlns:a16="http://schemas.microsoft.com/office/drawing/2014/main" id="{F7D7C0DA-17AD-4ADF-9946-99ED50EBAD08}"/>
              </a:ext>
            </a:extLst>
          </p:cNvPr>
          <p:cNvSpPr>
            <a:spLocks xmlns:a="http://schemas.openxmlformats.org/drawingml/2006/main" noGrp="1"/>
          </p:cNvSpPr>
          <p:nvPr/>
        </p:nvSpPr>
        <p:spPr>
          <a:xfrm xmlns:a="http://schemas.openxmlformats.org/drawingml/2006/main">
            <a:off x="720000" y="609600"/>
            <a:ext cx="925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00" b="1">
                <a:solidFill>
                  <a:srgbClr val="000000"/>
                </a:solidFill>
                <a:latin typeface="Hiragino Sans"/>
                <a:ea typeface="Hiragino Sans"/>
                <a:cs typeface="Hiragino Sans"/>
              </a:defRPr>
            </a:defPPr>
          </a:lstStyle>
          <a:p xmlns:a="http://schemas.openxmlformats.org/drawingml/2006/main">
            <a:pPr algn="ctr">
              <a:lnSpc>
                <a:spcPct val="120000"/>
              </a:lnSpc>
              <a:buNone/>
              <a:defRPr sz="3200" b="1">
                <a:solidFill>
                  <a:srgbClr val="000000"/>
                </a:solidFill>
                <a:latin typeface="Hiragino Sans"/>
                <a:ea typeface="Hiragino Sans"/>
                <a:cs typeface="Hiragino Sans"/>
              </a:defRPr>
            </a:pPr>
            <a:r>
              <a:rPr sz="3200" b="1">
                <a:solidFill>
                  <a:srgbClr val="000000"/>
                </a:solidFill>
                <a:latin typeface="Hiragino Sans"/>
                <a:ea typeface="Hiragino Sans"/>
                <a:cs typeface="Hiragino Sans"/>
              </a:rPr>
              <a:t>tensor4all-rs:</a:t>
            </a:r>
          </a:p>
          <a:p xmlns:a="http://schemas.openxmlformats.org/drawingml/2006/main">
            <a:pPr algn="ctr">
              <a:lnSpc>
                <a:spcPct val="120000"/>
              </a:lnSpc>
              <a:buNone/>
              <a:defRPr sz="3200" b="1">
                <a:solidFill>
                  <a:srgbClr val="000000"/>
                </a:solidFill>
                <a:latin typeface="Hiragino Sans"/>
                <a:ea typeface="Hiragino Sans"/>
                <a:cs typeface="Hiragino Sans"/>
              </a:defRPr>
            </a:pPr>
            <a:r>
              <a:rPr sz="3200" b="1">
                <a:solidFill>
                  <a:srgbClr val="000000"/>
                </a:solidFill>
                <a:latin typeface="Hiragino Sans"/>
                <a:ea typeface="Hiragino Sans"/>
                <a:cs typeface="Hiragino Sans"/>
              </a:rPr>
              <a:t>tree methods and adaptive patching</a:t>
            </a:r>
          </a:p>
        </p:txBody>
      </p:sp>
      <p:sp>
        <p:nvSpPr>
          <p:cNvPr id="2" name="cover-period">
            <a:extLst xmlns:a="http://schemas.openxmlformats.org/drawingml/2006/main">
              <a:ext uri="{FF2B5EF4-FFF2-40B4-BE49-F238E27FC236}">
                <a16:creationId xmlns:a16="http://schemas.microsoft.com/office/drawing/2014/main" id="{92186749-F4EB-4BB4-BB96-EB3D8B4B5EB2}"/>
              </a:ext>
            </a:extLst>
          </p:cNvPr>
          <p:cNvSpPr>
            <a:spLocks xmlns:a="http://schemas.openxmlformats.org/drawingml/2006/main" noGrp="1"/>
          </p:cNvSpPr>
          <p:nvPr/>
        </p:nvSpPr>
        <p:spPr>
          <a:xfrm xmlns:a="http://schemas.openxmlformats.org/drawingml/2006/main">
            <a:off x="720000" y="2514600"/>
            <a:ext cx="925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777777"/>
                </a:solidFill>
                <a:latin typeface="Hiragino Sans"/>
                <a:ea typeface="Hiragino Sans"/>
                <a:cs typeface="Hiragino Sans"/>
              </a:defRPr>
            </a:defPPr>
          </a:lstStyle>
          <a:p xmlns:a="http://schemas.openxmlformats.org/drawingml/2006/main">
            <a:pPr algn="ctr">
              <a:lnSpc>
                <a:spcPct val="130000"/>
              </a:lnSpc>
              <a:buNone/>
              <a:defRPr sz="1800" b="0">
                <a:solidFill>
                  <a:srgbClr val="777777"/>
                </a:solidFill>
                <a:latin typeface="Hiragino Sans"/>
                <a:ea typeface="Hiragino Sans"/>
                <a:cs typeface="Hiragino Sans"/>
              </a:defRPr>
            </a:pPr>
            <a:r>
              <a:rPr sz="1800" b="0">
                <a:solidFill>
                  <a:srgbClr val="777777"/>
                </a:solidFill>
                <a:latin typeface="Hiragino Sans"/>
                <a:ea typeface="Hiragino Sans"/>
                <a:cs typeface="Hiragino Sans"/>
              </a:rPr>
              <a:t>Progress from 22 September to 27 October 2026</a:t>
            </a:r>
          </a:p>
        </p:txBody>
      </p:sp>
      <p:sp>
        <p:nvSpPr>
          <p:cNvPr id="3" name="cover-author">
            <a:extLst xmlns:a="http://schemas.openxmlformats.org/drawingml/2006/main">
              <a:ext uri="{FF2B5EF4-FFF2-40B4-BE49-F238E27FC236}">
                <a16:creationId xmlns:a16="http://schemas.microsoft.com/office/drawing/2014/main" id="{E90259B0-F9EB-440F-AA84-612502EDE34B}"/>
              </a:ext>
            </a:extLst>
          </p:cNvPr>
          <p:cNvSpPr>
            <a:spLocks xmlns:a="http://schemas.openxmlformats.org/drawingml/2006/main" noGrp="1"/>
          </p:cNvSpPr>
          <p:nvPr/>
        </p:nvSpPr>
        <p:spPr>
          <a:xfrm xmlns:a="http://schemas.openxmlformats.org/drawingml/2006/main">
            <a:off x="720000" y="3448050"/>
            <a:ext cx="925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000000"/>
                </a:solidFill>
                <a:latin typeface="Hiragino Sans"/>
                <a:ea typeface="Hiragino Sans"/>
                <a:cs typeface="Hiragino Sans"/>
              </a:defRPr>
            </a:defPPr>
          </a:lstStyle>
          <a:p xmlns:a="http://schemas.openxmlformats.org/drawingml/2006/main">
            <a:pPr algn="ctr">
              <a:lnSpc>
                <a:spcPct val="130000"/>
              </a:lnSpc>
              <a:buNone/>
              <a:defRPr sz="2100" b="0">
                <a:solidFill>
                  <a:srgbClr val="000000"/>
                </a:solidFill>
                <a:latin typeface="Hiragino Sans"/>
                <a:ea typeface="Hiragino Sans"/>
                <a:cs typeface="Hiragino Sans"/>
              </a:defRPr>
            </a:pPr>
            <a:r>
              <a:rPr sz="2100" b="0">
                <a:solidFill>
                  <a:srgbClr val="000000"/>
                </a:solidFill>
                <a:latin typeface="Hiragino Sans"/>
                <a:ea typeface="Hiragino Sans"/>
                <a:cs typeface="Hiragino Sans"/>
              </a:rPr>
              <a:t>Lingrui Cheng</a:t>
            </a:r>
          </a:p>
        </p:txBody>
      </p:sp>
      <p:sp>
        <p:nvSpPr>
          <p:cNvPr id="4" name="cover-meeting">
            <a:extLst xmlns:a="http://schemas.openxmlformats.org/drawingml/2006/main">
              <a:ext uri="{FF2B5EF4-FFF2-40B4-BE49-F238E27FC236}">
                <a16:creationId xmlns:a16="http://schemas.microsoft.com/office/drawing/2014/main" id="{53E49895-AD9E-443D-93FA-CE1FFA8C34CF}"/>
              </a:ext>
            </a:extLst>
          </p:cNvPr>
          <p:cNvSpPr>
            <a:spLocks xmlns:a="http://schemas.openxmlformats.org/drawingml/2006/main" noGrp="1"/>
          </p:cNvSpPr>
          <p:nvPr/>
        </p:nvSpPr>
        <p:spPr>
          <a:xfrm xmlns:a="http://schemas.openxmlformats.org/drawingml/2006/main">
            <a:off x="720000" y="4143375"/>
            <a:ext cx="925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00" b="0">
                <a:solidFill>
                  <a:srgbClr val="AAAAAA"/>
                </a:solidFill>
                <a:latin typeface="Hiragino Sans"/>
                <a:ea typeface="Hiragino Sans"/>
                <a:cs typeface="Hiragino Sans"/>
              </a:defRPr>
            </a:defPPr>
          </a:lstStyle>
          <a:p xmlns:a="http://schemas.openxmlformats.org/drawingml/2006/main">
            <a:pPr algn="ctr">
              <a:lnSpc>
                <a:spcPct val="130000"/>
              </a:lnSpc>
              <a:buNone/>
              <a:defRPr sz="1600" b="0">
                <a:solidFill>
                  <a:srgbClr val="AAAAAA"/>
                </a:solidFill>
                <a:latin typeface="Hiragino Sans"/>
                <a:ea typeface="Hiragino Sans"/>
                <a:cs typeface="Hiragino Sans"/>
              </a:defRPr>
            </a:pPr>
            <a:r>
              <a:rPr sz="1600" b="0">
                <a:solidFill>
                  <a:srgbClr val="AAAAAA"/>
                </a:solidFill>
                <a:latin typeface="Hiragino Sans"/>
                <a:ea typeface="Hiragino Sans"/>
                <a:cs typeface="Hiragino Sans"/>
              </a:rPr>
              <a:t>tensor4all developer meeting, 27 October 2026</a:t>
            </a:r>
          </a:p>
        </p:txBody>
      </p:sp>
      <p:sp>
        <p:nvSpPr>
          <p:cNvPr id="5" name="cover-collaboration">
            <a:extLst xmlns:a="http://schemas.openxmlformats.org/drawingml/2006/main">
              <a:ext uri="{FF2B5EF4-FFF2-40B4-BE49-F238E27FC236}">
                <a16:creationId xmlns:a16="http://schemas.microsoft.com/office/drawing/2014/main" id="{ADA3D0C5-900F-4A67-AACB-6E86B91C2A66}"/>
              </a:ext>
            </a:extLst>
          </p:cNvPr>
          <p:cNvSpPr>
            <a:spLocks xmlns:a="http://schemas.openxmlformats.org/drawingml/2006/main" noGrp="1"/>
          </p:cNvSpPr>
          <p:nvPr/>
        </p:nvSpPr>
        <p:spPr>
          <a:xfrm xmlns:a="http://schemas.openxmlformats.org/drawingml/2006/main">
            <a:off x="720000" y="4810125"/>
            <a:ext cx="925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AAAAAA"/>
                </a:solidFill>
                <a:latin typeface="Hiragino Sans"/>
                <a:ea typeface="Hiragino Sans"/>
                <a:cs typeface="Hiragino Sans"/>
              </a:defRPr>
            </a:defPPr>
          </a:lstStyle>
          <a:p xmlns:a="http://schemas.openxmlformats.org/drawingml/2006/main">
            <a:pPr algn="ctr">
              <a:lnSpc>
                <a:spcPct val="130000"/>
              </a:lnSpc>
              <a:buNone/>
              <a:defRPr sz="1200" b="0">
                <a:solidFill>
                  <a:srgbClr val="AAAAAA"/>
                </a:solidFill>
                <a:latin typeface="Hiragino Sans"/>
                <a:ea typeface="Hiragino Sans"/>
                <a:cs typeface="Hiragino Sans"/>
              </a:defRPr>
            </a:pPr>
            <a:r>
              <a:rPr sz="1200" b="0">
                <a:solidFill>
                  <a:srgbClr val="AAAAAA"/>
                </a:solidFill>
                <a:latin typeface="Hiragino Sans"/>
                <a:ea typeface="Hiragino Sans"/>
                <a:cs typeface="Hiragino Sans"/>
              </a:rPr>
              <a:t>With Hiroshi Shinaoka and the tensor4all developers</a:t>
            </a:r>
          </a:p>
        </p:txBody>
      </p:sp>
      <p:sp>
        <p:nvSpPr>
          <p:cNvPr id="6" name="cover-repository">
            <a:extLst xmlns:a="http://schemas.openxmlformats.org/drawingml/2006/main">
              <a:ext uri="{FF2B5EF4-FFF2-40B4-BE49-F238E27FC236}">
                <a16:creationId xmlns:a16="http://schemas.microsoft.com/office/drawing/2014/main" id="{8DC85858-6E40-4B88-ABB9-01A36B8AAC82}"/>
              </a:ext>
            </a:extLst>
          </p:cNvPr>
          <p:cNvSpPr>
            <a:spLocks xmlns:a="http://schemas.openxmlformats.org/drawingml/2006/main" noGrp="1"/>
          </p:cNvSpPr>
          <p:nvPr/>
        </p:nvSpPr>
        <p:spPr>
          <a:xfrm xmlns:a="http://schemas.openxmlformats.org/drawingml/2006/main">
            <a:off x="720000" y="5238750"/>
            <a:ext cx="925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777777"/>
                </a:solidFill>
                <a:latin typeface="Hiragino Sans"/>
                <a:ea typeface="Hiragino Sans"/>
                <a:cs typeface="Hiragino Sans"/>
              </a:defRPr>
            </a:defPPr>
          </a:lstStyle>
          <a:p xmlns:a="http://schemas.openxmlformats.org/drawingml/2006/main">
            <a:pPr algn="ctr">
              <a:lnSpc>
                <a:spcPct val="130000"/>
              </a:lnSpc>
              <a:buNone/>
              <a:defRPr sz="1100" b="0">
                <a:solidFill>
                  <a:srgbClr val="777777"/>
                </a:solidFill>
                <a:latin typeface="Hiragino Sans"/>
                <a:ea typeface="Hiragino Sans"/>
                <a:cs typeface="Hiragino Sans"/>
              </a:defRPr>
            </a:pPr>
            <a:r>
              <a:rPr sz="1100" b="0">
                <a:solidFill>
                  <a:srgbClr val="777777"/>
                </a:solidFill>
                <a:latin typeface="Hiragino Sans"/>
                <a:ea typeface="Hiragino Sans"/>
                <a:cs typeface="Hiragino Sans"/>
                <a:hlinkClick xmlns:r="http://schemas.openxmlformats.org/officeDocument/2006/relationships" r:id="R86eb62c50fc14d2a"/>
              </a:rPr>
              <a:t>github.com/tensor4all/tensor4all-rs</a:t>
            </a:r>
          </a:p>
        </p:txBody>
      </p:sp>
      <p:sp>
        <p:nvSpPr>
          <p:cNvPr id="7" name="cover-page">
            <a:extLst xmlns:a="http://schemas.openxmlformats.org/drawingml/2006/main">
              <a:ext uri="{FF2B5EF4-FFF2-40B4-BE49-F238E27FC236}">
                <a16:creationId xmlns:a16="http://schemas.microsoft.com/office/drawing/2014/main" id="{E56D4235-DA71-477D-9AA1-D2E27731AE28}"/>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1</a:t>
            </a:r>
          </a:p>
        </p:txBody>
      </p:sp>
    </p:spTree>
    <p:extLst>
      <p:ext uri="{BB962C8B-B14F-4D97-AF65-F5344CB8AC3E}">
        <p14:creationId xmlns:p14="http://schemas.microsoft.com/office/powerpoint/2010/main" val="10305596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B794D45-B5C0-4055-B9B5-3FD5CDD28D19}"/>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Since September 22</a:t>
            </a:r>
          </a:p>
        </p:txBody>
      </p:sp>
      <p:sp>
        <p:nvSpPr>
          <p:cNvPr id="2" name="repository-label">
            <a:extLst xmlns:a="http://schemas.openxmlformats.org/drawingml/2006/main">
              <a:ext uri="{FF2B5EF4-FFF2-40B4-BE49-F238E27FC236}">
                <a16:creationId xmlns:a16="http://schemas.microsoft.com/office/drawing/2014/main" id="{92942DB8-FA7B-4DDE-9226-23405F762560}"/>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083cd71e0ebc4d2d"/>
              </a:rPr>
              <a:t>tensor4all-rs</a:t>
            </a:r>
          </a:p>
        </p:txBody>
      </p:sp>
      <p:sp>
        <p:nvSpPr>
          <p:cNvPr id="3" name="title-rule">
            <a:extLst xmlns:a="http://schemas.openxmlformats.org/drawingml/2006/main">
              <a:ext uri="{FF2B5EF4-FFF2-40B4-BE49-F238E27FC236}">
                <a16:creationId xmlns:a16="http://schemas.microsoft.com/office/drawing/2014/main" id="{44C271D4-2E58-484A-B280-F96041B4A530}"/>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E07FFEC8-9560-4F2D-A7FA-734E9B7FEFAB}"/>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2</a:t>
            </a:r>
          </a:p>
        </p:txBody>
      </p:sp>
      <p:sp>
        <p:nvSpPr>
          <p:cNvPr id="5" name="period">
            <a:extLst xmlns:a="http://schemas.openxmlformats.org/drawingml/2006/main">
              <a:ext uri="{FF2B5EF4-FFF2-40B4-BE49-F238E27FC236}">
                <a16:creationId xmlns:a16="http://schemas.microsoft.com/office/drawing/2014/main" id="{7BB0443C-732E-4B9C-95B5-D5D0A889B697}"/>
              </a:ext>
            </a:extLst>
          </p:cNvPr>
          <p:cNvSpPr>
            <a:spLocks xmlns:a="http://schemas.openxmlformats.org/drawingml/2006/main" noGrp="1"/>
          </p:cNvSpPr>
          <p:nvPr/>
        </p:nvSpPr>
        <p:spPr>
          <a:xfrm xmlns:a="http://schemas.openxmlformats.org/drawingml/2006/main">
            <a:off x="720000" y="1524000"/>
            <a:ext cx="925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Hiragino Sans"/>
                <a:ea typeface="Hiragino Sans"/>
                <a:cs typeface="Hiragino Sans"/>
              </a:defRPr>
            </a:defPPr>
          </a:lstStyle>
          <a:p xmlns:a="http://schemas.openxmlformats.org/drawingml/2006/main">
            <a:pPr algn="l">
              <a:lnSpc>
                <a:spcPct val="130000"/>
              </a:lnSpc>
              <a:buNone/>
              <a:defRPr sz="2100" b="1">
                <a:solidFill>
                  <a:srgbClr val="000000"/>
                </a:solidFill>
                <a:latin typeface="Hiragino Sans"/>
                <a:ea typeface="Hiragino Sans"/>
                <a:cs typeface="Hiragino Sans"/>
              </a:defRPr>
            </a:pPr>
            <a:r>
              <a:rPr sz="2100" b="1">
                <a:solidFill>
                  <a:srgbClr val="000000"/>
                </a:solidFill>
                <a:latin typeface="Hiragino Sans"/>
                <a:ea typeface="Hiragino Sans"/>
                <a:cs typeface="Hiragino Sans"/>
              </a:rPr>
              <a:t>New capabilities and reliability work</a:t>
            </a:r>
          </a:p>
        </p:txBody>
      </p:sp>
      <p:sp>
        <p:nvSpPr>
          <p:cNvPr id="6" name="library-scope">
            <a:extLst xmlns:a="http://schemas.openxmlformats.org/drawingml/2006/main">
              <a:ext uri="{FF2B5EF4-FFF2-40B4-BE49-F238E27FC236}">
                <a16:creationId xmlns:a16="http://schemas.microsoft.com/office/drawing/2014/main" id="{C6AE1BA4-611B-4C6D-9BD8-EC6569225101}"/>
              </a:ext>
            </a:extLst>
          </p:cNvPr>
          <p:cNvSpPr>
            <a:spLocks xmlns:a="http://schemas.openxmlformats.org/drawingml/2006/main" noGrp="1"/>
          </p:cNvSpPr>
          <p:nvPr/>
        </p:nvSpPr>
        <p:spPr>
          <a:xfrm xmlns:a="http://schemas.openxmlformats.org/drawingml/2006/main">
            <a:off x="720000" y="2000250"/>
            <a:ext cx="925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777777"/>
                </a:solidFill>
                <a:latin typeface="Hiragino Sans"/>
                <a:ea typeface="Hiragino Sans"/>
                <a:cs typeface="Hiragino Sans"/>
              </a:defRPr>
            </a:defPPr>
          </a:lstStyle>
          <a:p xmlns:a="http://schemas.openxmlformats.org/drawingml/2006/main">
            <a:pPr algn="l">
              <a:lnSpc>
                <a:spcPct val="130000"/>
              </a:lnSpc>
              <a:buNone/>
              <a:defRPr sz="1700" b="0">
                <a:solidFill>
                  <a:srgbClr val="777777"/>
                </a:solidFill>
                <a:latin typeface="Hiragino Sans"/>
                <a:ea typeface="Hiragino Sans"/>
                <a:cs typeface="Hiragino Sans"/>
              </a:defRPr>
            </a:pPr>
            <a:r>
              <a:rPr sz="1700" b="0">
                <a:solidFill>
                  <a:srgbClr val="777777"/>
                </a:solidFill>
                <a:latin typeface="Hiragino Sans"/>
                <a:ea typeface="Hiragino Sans"/>
                <a:cs typeface="Hiragino Sans"/>
              </a:rPr>
              <a:t>Rust implementation in tensor4all-rs</a:t>
            </a:r>
          </a:p>
        </p:txBody>
      </p:sp>
      <p:sp>
        <p:nvSpPr>
          <p:cNvPr id="7" name="new-since-september">
            <a:extLst xmlns:a="http://schemas.openxmlformats.org/drawingml/2006/main">
              <a:ext uri="{FF2B5EF4-FFF2-40B4-BE49-F238E27FC236}">
                <a16:creationId xmlns:a16="http://schemas.microsoft.com/office/drawing/2014/main" id="{7EE0E04A-29A9-4397-B860-807FEC3C2128}"/>
              </a:ext>
            </a:extLst>
          </p:cNvPr>
          <p:cNvSpPr>
            <a:spLocks xmlns:a="http://schemas.openxmlformats.org/drawingml/2006/main" noGrp="1"/>
          </p:cNvSpPr>
          <p:nvPr/>
        </p:nvSpPr>
        <p:spPr>
          <a:xfrm xmlns:a="http://schemas.openxmlformats.org/drawingml/2006/main">
            <a:off x="720000" y="2686050"/>
            <a:ext cx="92520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900" b="0">
                <a:solidFill>
                  <a:srgbClr val="000000"/>
                </a:solidFill>
                <a:latin typeface="Hiragino Sans"/>
                <a:ea typeface="Hiragino Sans"/>
                <a:cs typeface="Hiragino Sans"/>
              </a:defRPr>
            </a:pPr>
            <a:r>
              <a:t>Tree adaptive patching: generalization of the TT interpolation method.</a:t>
            </a:r>
          </a:p>
          <a:p xmlns:a="http://schemas.openxmlformats.org/drawingml/2006/main">
            <a:pPr marL="228600" indent="-228600" algn="l">
              <a:spcAft>
                <a:spcPts val="1300"/>
              </a:spcAft>
              <a:buChar char="•"/>
              <a:defRPr sz="1900" b="0">
                <a:solidFill>
                  <a:srgbClr val="000000"/>
                </a:solidFill>
                <a:latin typeface="Hiragino Sans"/>
                <a:ea typeface="Hiragino Sans"/>
                <a:cs typeface="Hiragino Sans"/>
              </a:defRPr>
            </a:pPr>
            <a:r>
              <a:t>TreeRSI: a new tree generalization with reference-code checks.</a:t>
            </a:r>
          </a:p>
          <a:p xmlns:a="http://schemas.openxmlformats.org/drawingml/2006/main">
            <a:pPr marL="228600" indent="-228600" algn="l">
              <a:spcAft>
                <a:spcPts val="1300"/>
              </a:spcAft>
              <a:buChar char="•"/>
              <a:defRPr sz="1900" b="0">
                <a:solidFill>
                  <a:srgbClr val="000000"/>
                </a:solidFill>
                <a:latin typeface="Hiragino Sans"/>
                <a:ea typeface="Hiragino Sans"/>
                <a:cs typeface="Hiragino Sans"/>
              </a:defRPr>
            </a:pPr>
            <a:r>
              <a:t>TreeTCI and TreeACI: numerical fixes, convergence checks and bounded caches.</a:t>
            </a:r>
          </a:p>
        </p:txBody>
      </p:sp>
      <p:sp>
        <p:nvSpPr>
          <p:cNvPr id="8" name="public-repository">
            <a:extLst xmlns:a="http://schemas.openxmlformats.org/drawingml/2006/main">
              <a:ext uri="{FF2B5EF4-FFF2-40B4-BE49-F238E27FC236}">
                <a16:creationId xmlns:a16="http://schemas.microsoft.com/office/drawing/2014/main" id="{C1BF3433-E261-4BF4-A895-FE663F124B4F}"/>
              </a:ext>
            </a:extLst>
          </p:cNvPr>
          <p:cNvSpPr>
            <a:spLocks xmlns:a="http://schemas.openxmlformats.org/drawingml/2006/main" noGrp="1"/>
          </p:cNvSpPr>
          <p:nvPr/>
        </p:nvSpPr>
        <p:spPr>
          <a:xfrm xmlns:a="http://schemas.openxmlformats.org/drawingml/2006/main">
            <a:off x="720000" y="5000625"/>
            <a:ext cx="887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777777"/>
                </a:solidFill>
                <a:latin typeface="Hiragino Sans"/>
                <a:ea typeface="Hiragino Sans"/>
                <a:cs typeface="Hiragino Sans"/>
              </a:defRPr>
            </a:defPPr>
          </a:lstStyle>
          <a:p xmlns:a="http://schemas.openxmlformats.org/drawingml/2006/main">
            <a:pPr algn="l">
              <a:lnSpc>
                <a:spcPct val="130000"/>
              </a:lnSpc>
              <a:buNone/>
              <a:defRPr sz="1400" b="0">
                <a:solidFill>
                  <a:srgbClr val="777777"/>
                </a:solidFill>
                <a:latin typeface="Hiragino Sans"/>
                <a:ea typeface="Hiragino Sans"/>
                <a:cs typeface="Hiragino Sans"/>
              </a:defRPr>
            </a:pPr>
            <a:r>
              <a:rPr sz="1400" b="0">
                <a:solidFill>
                  <a:srgbClr val="777777"/>
                </a:solidFill>
                <a:latin typeface="Hiragino Sans"/>
                <a:ea typeface="Hiragino Sans"/>
                <a:cs typeface="Hiragino Sans"/>
              </a:rPr>
              <a:t>Rust library: </a:t>
            </a:r>
            <a:r>
              <a:rPr sz="1400" b="0">
                <a:solidFill>
                  <a:srgbClr val="777777"/>
                </a:solidFill>
                <a:latin typeface="Hiragino Sans"/>
                <a:ea typeface="Hiragino Sans"/>
                <a:cs typeface="Hiragino Sans"/>
                <a:hlinkClick xmlns:r="http://schemas.openxmlformats.org/officeDocument/2006/relationships" r:id="R5844b7a7fe604519"/>
              </a:rPr>
              <a:t>github.com/tensor4all/tensor4all-rs</a:t>
            </a:r>
          </a:p>
        </p:txBody>
      </p:sp>
      <p:sp>
        <p:nvSpPr>
          <p:cNvPr id="9" name="aci-reference">
            <a:extLst xmlns:a="http://schemas.openxmlformats.org/drawingml/2006/main">
              <a:ext uri="{FF2B5EF4-FFF2-40B4-BE49-F238E27FC236}">
                <a16:creationId xmlns:a16="http://schemas.microsoft.com/office/drawing/2014/main" id="{9923E0D4-9ABE-40BE-AA72-5CA78DED42E3}"/>
              </a:ext>
            </a:extLst>
          </p:cNvPr>
          <p:cNvSpPr>
            <a:spLocks xmlns:a="http://schemas.openxmlformats.org/drawingml/2006/main" noGrp="1"/>
          </p:cNvSpPr>
          <p:nvPr/>
        </p:nvSpPr>
        <p:spPr>
          <a:xfrm xmlns:a="http://schemas.openxmlformats.org/drawingml/2006/main">
            <a:off x="720000" y="55626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hlinkClick xmlns:r="http://schemas.openxmlformats.org/officeDocument/2006/relationships" r:id="R3055aae920d643e4"/>
              </a:rPr>
              <a:t>ACI: M. K. Ritter, arXiv:2604.00037</a:t>
            </a:r>
          </a:p>
        </p:txBody>
      </p:sp>
      <p:sp>
        <p:nvSpPr>
          <p:cNvPr id="10" name="src-reference">
            <a:extLst xmlns:a="http://schemas.openxmlformats.org/drawingml/2006/main">
              <a:ext uri="{FF2B5EF4-FFF2-40B4-BE49-F238E27FC236}">
                <a16:creationId xmlns:a16="http://schemas.microsoft.com/office/drawing/2014/main" id="{308700D3-6F3F-44E4-A034-3DAA6999626C}"/>
              </a:ext>
            </a:extLst>
          </p:cNvPr>
          <p:cNvSpPr>
            <a:spLocks xmlns:a="http://schemas.openxmlformats.org/drawingml/2006/main" noGrp="1"/>
          </p:cNvSpPr>
          <p:nvPr/>
        </p:nvSpPr>
        <p:spPr>
          <a:xfrm xmlns:a="http://schemas.openxmlformats.org/drawingml/2006/main">
            <a:off x="5292000" y="5562600"/>
            <a:ext cx="419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hlinkClick xmlns:r="http://schemas.openxmlformats.org/officeDocument/2006/relationships" r:id="R95b124cb7c504568"/>
              </a:rPr>
              <a:t>SRC: Camaño et al., arXiv:2504.06475</a:t>
            </a:r>
          </a:p>
        </p:txBody>
      </p:sp>
    </p:spTree>
    <p:extLst>
      <p:ext uri="{BB962C8B-B14F-4D97-AF65-F5344CB8AC3E}">
        <p14:creationId xmlns:p14="http://schemas.microsoft.com/office/powerpoint/2010/main" val="16660462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A1AC777-9919-4368-A92F-47C76DF5A2F3}"/>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Adaptive patching on trees</a:t>
            </a:r>
          </a:p>
        </p:txBody>
      </p:sp>
      <p:sp>
        <p:nvSpPr>
          <p:cNvPr id="2" name="repository-label">
            <a:extLst xmlns:a="http://schemas.openxmlformats.org/drawingml/2006/main">
              <a:ext uri="{FF2B5EF4-FFF2-40B4-BE49-F238E27FC236}">
                <a16:creationId xmlns:a16="http://schemas.microsoft.com/office/drawing/2014/main" id="{27B87105-6767-4785-BF9A-23400A7A6BAE}"/>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8ce9e32e66934734"/>
              </a:rPr>
              <a:t>tensor4all-rs</a:t>
            </a:r>
          </a:p>
        </p:txBody>
      </p:sp>
      <p:sp>
        <p:nvSpPr>
          <p:cNvPr id="3" name="title-rule">
            <a:extLst xmlns:a="http://schemas.openxmlformats.org/drawingml/2006/main">
              <a:ext uri="{FF2B5EF4-FFF2-40B4-BE49-F238E27FC236}">
                <a16:creationId xmlns:a16="http://schemas.microsoft.com/office/drawing/2014/main" id="{7F020540-DCE5-4EFB-9AF1-C8B96800C49E}"/>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A221EEAD-6074-4B34-88B1-DCC57AC5F6CF}"/>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3</a:t>
            </a:r>
          </a:p>
        </p:txBody>
      </p:sp>
      <p:sp>
        <p:nvSpPr>
          <p:cNvPr id="5" name="implementation-heading">
            <a:extLst xmlns:a="http://schemas.openxmlformats.org/drawingml/2006/main">
              <a:ext uri="{FF2B5EF4-FFF2-40B4-BE49-F238E27FC236}">
                <a16:creationId xmlns:a16="http://schemas.microsoft.com/office/drawing/2014/main" id="{B997DA24-6939-4408-81D9-03236042B679}"/>
              </a:ext>
            </a:extLst>
          </p:cNvPr>
          <p:cNvSpPr>
            <a:spLocks xmlns:a="http://schemas.openxmlformats.org/drawingml/2006/main" noGrp="1"/>
          </p:cNvSpPr>
          <p:nvPr/>
        </p:nvSpPr>
        <p:spPr>
          <a:xfrm xmlns:a="http://schemas.openxmlformats.org/drawingml/2006/main">
            <a:off x="720000" y="1562100"/>
            <a:ext cx="4362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Tree interpolation</a:t>
            </a:r>
          </a:p>
        </p:txBody>
      </p:sp>
      <p:sp>
        <p:nvSpPr>
          <p:cNvPr id="6" name="control-heading">
            <a:extLst xmlns:a="http://schemas.openxmlformats.org/drawingml/2006/main">
              <a:ext uri="{FF2B5EF4-FFF2-40B4-BE49-F238E27FC236}">
                <a16:creationId xmlns:a16="http://schemas.microsoft.com/office/drawing/2014/main" id="{F1E7D5BA-8F49-4087-ADB7-5B5CD5420758}"/>
              </a:ext>
            </a:extLst>
          </p:cNvPr>
          <p:cNvSpPr>
            <a:spLocks xmlns:a="http://schemas.openxmlformats.org/drawingml/2006/main" noGrp="1"/>
          </p:cNvSpPr>
          <p:nvPr/>
        </p:nvSpPr>
        <p:spPr>
          <a:xfrm xmlns:a="http://schemas.openxmlformats.org/drawingml/2006/main">
            <a:off x="5610225" y="1562100"/>
            <a:ext cx="4361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Accuracy and split controls</a:t>
            </a:r>
          </a:p>
        </p:txBody>
      </p:sp>
      <p:sp>
        <p:nvSpPr>
          <p:cNvPr id="7" name="interpolation-mechanisms">
            <a:extLst xmlns:a="http://schemas.openxmlformats.org/drawingml/2006/main">
              <a:ext uri="{FF2B5EF4-FFF2-40B4-BE49-F238E27FC236}">
                <a16:creationId xmlns:a16="http://schemas.microsoft.com/office/drawing/2014/main" id="{0A677947-878E-4091-B9F8-C206FA48F0C0}"/>
              </a:ext>
            </a:extLst>
          </p:cNvPr>
          <p:cNvSpPr>
            <a:spLocks xmlns:a="http://schemas.openxmlformats.org/drawingml/2006/main" noGrp="1"/>
          </p:cNvSpPr>
          <p:nvPr/>
        </p:nvSpPr>
        <p:spPr>
          <a:xfrm xmlns:a="http://schemas.openxmlformats.org/drawingml/2006/main">
            <a:off x="720000" y="2095500"/>
            <a:ext cx="43624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One interpolation driver supports chains and branched trees.</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Split difficult regions while preserving the original tree topology.</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Reuse parent samples and pivots in the child patches.</a:t>
            </a:r>
          </a:p>
        </p:txBody>
      </p:sp>
      <p:sp>
        <p:nvSpPr>
          <p:cNvPr id="8" name="accuracy-mechanisms">
            <a:extLst xmlns:a="http://schemas.openxmlformats.org/drawingml/2006/main">
              <a:ext uri="{FF2B5EF4-FFF2-40B4-BE49-F238E27FC236}">
                <a16:creationId xmlns:a16="http://schemas.microsoft.com/office/drawing/2014/main" id="{59A7FB2B-C858-43E9-AEE3-8788C73B4622}"/>
              </a:ext>
            </a:extLst>
          </p:cNvPr>
          <p:cNvSpPr>
            <a:spLocks xmlns:a="http://schemas.openxmlformats.org/drawingml/2006/main" noGrp="1"/>
          </p:cNvSpPr>
          <p:nvPr/>
        </p:nvSpPr>
        <p:spPr>
          <a:xfrm xmlns:a="http://schemas.openxmlformats.org/drawingml/2006/main">
            <a:off x="5610225" y="2095500"/>
            <a:ext cx="43617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Measure patch errors against a fixed global L2 reference.</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Patch-size controls prevent excessive subdivision.</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Reuse large cached values as child candidates to reduce missed features.</a:t>
            </a:r>
          </a:p>
        </p:txBody>
      </p:sp>
      <p:sp>
        <p:nvSpPr>
          <p:cNvPr id="9" name="accuracy-limitation">
            <a:extLst xmlns:a="http://schemas.openxmlformats.org/drawingml/2006/main">
              <a:ext uri="{FF2B5EF4-FFF2-40B4-BE49-F238E27FC236}">
                <a16:creationId xmlns:a16="http://schemas.microsoft.com/office/drawing/2014/main" id="{9A8BCC09-F50F-41AB-8FA2-385B6E1468F6}"/>
              </a:ext>
            </a:extLst>
          </p:cNvPr>
          <p:cNvSpPr>
            <a:spLocks xmlns:a="http://schemas.openxmlformats.org/drawingml/2006/main" noGrp="1"/>
          </p:cNvSpPr>
          <p:nvPr/>
        </p:nvSpPr>
        <p:spPr>
          <a:xfrm xmlns:a="http://schemas.openxmlformats.org/drawingml/2006/main">
            <a:off x="720000" y="5019675"/>
            <a:ext cx="891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777777"/>
                </a:solidFill>
                <a:latin typeface="Hiragino Sans"/>
                <a:ea typeface="Hiragino Sans"/>
                <a:cs typeface="Hiragino Sans"/>
              </a:defRPr>
            </a:defPPr>
          </a:lstStyle>
          <a:p xmlns:a="http://schemas.openxmlformats.org/drawingml/2006/main">
            <a:pPr algn="l">
              <a:lnSpc>
                <a:spcPct val="130000"/>
              </a:lnSpc>
              <a:buNone/>
              <a:defRPr sz="1300" b="0">
                <a:solidFill>
                  <a:srgbClr val="777777"/>
                </a:solidFill>
                <a:latin typeface="Hiragino Sans"/>
                <a:ea typeface="Hiragino Sans"/>
                <a:cs typeface="Hiragino Sans"/>
              </a:defRPr>
            </a:pPr>
            <a:r>
              <a:rPr sz="1300" b="0">
                <a:solidFill>
                  <a:srgbClr val="777777"/>
                </a:solidFill>
                <a:latin typeface="Hiragino Sans"/>
                <a:ea typeface="Hiragino Sans"/>
                <a:cs typeface="Hiragino Sans"/>
              </a:rPr>
              <a:t>Sampled checks can miss localized residuals. Exhaustive checks support certificates.</a:t>
            </a:r>
          </a:p>
        </p:txBody>
      </p:sp>
      <p:sp>
        <p:nvSpPr>
          <p:cNvPr id="10" name="patching-paper">
            <a:extLst xmlns:a="http://schemas.openxmlformats.org/drawingml/2006/main">
              <a:ext uri="{FF2B5EF4-FFF2-40B4-BE49-F238E27FC236}">
                <a16:creationId xmlns:a16="http://schemas.microsoft.com/office/drawing/2014/main" id="{E5D2AF4A-7985-4976-BAE0-4D27BD07391C}"/>
              </a:ext>
            </a:extLst>
          </p:cNvPr>
          <p:cNvSpPr>
            <a:spLocks xmlns:a="http://schemas.openxmlformats.org/drawingml/2006/main" noGrp="1"/>
          </p:cNvSpPr>
          <p:nvPr/>
        </p:nvSpPr>
        <p:spPr>
          <a:xfrm xmlns:a="http://schemas.openxmlformats.org/drawingml/2006/main">
            <a:off x="720000" y="5581650"/>
            <a:ext cx="877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hlinkClick xmlns:r="http://schemas.openxmlformats.org/officeDocument/2006/relationships" r:id="Rd58f3334e4404a5b"/>
              </a:rPr>
              <a:t>Grosso et al., Adaptive Patching for Tensor Train Computations, arXiv:2602.22372</a:t>
            </a:r>
          </a:p>
        </p:txBody>
      </p:sp>
    </p:spTree>
    <p:extLst>
      <p:ext uri="{BB962C8B-B14F-4D97-AF65-F5344CB8AC3E}">
        <p14:creationId xmlns:p14="http://schemas.microsoft.com/office/powerpoint/2010/main" val="4825373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1F53111B-DD97-4D81-A653-17F7B7026CE8}"/>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Patching integration and execution</a:t>
            </a:r>
          </a:p>
        </p:txBody>
      </p:sp>
      <p:sp>
        <p:nvSpPr>
          <p:cNvPr id="2" name="repository-label">
            <a:extLst xmlns:a="http://schemas.openxmlformats.org/drawingml/2006/main">
              <a:ext uri="{FF2B5EF4-FFF2-40B4-BE49-F238E27FC236}">
                <a16:creationId xmlns:a16="http://schemas.microsoft.com/office/drawing/2014/main" id="{F45E85FC-2EFC-468D-91E7-24DC33E58D99}"/>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3f80e95ff9df431e"/>
              </a:rPr>
              <a:t>tensor4all-rs</a:t>
            </a:r>
          </a:p>
        </p:txBody>
      </p:sp>
      <p:sp>
        <p:nvSpPr>
          <p:cNvPr id="3" name="title-rule">
            <a:extLst xmlns:a="http://schemas.openxmlformats.org/drawingml/2006/main">
              <a:ext uri="{FF2B5EF4-FFF2-40B4-BE49-F238E27FC236}">
                <a16:creationId xmlns:a16="http://schemas.microsoft.com/office/drawing/2014/main" id="{488C09B4-D153-4A9A-848E-EFF68E4B361A}"/>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3BFB7C2E-1ACD-4672-A186-A333CEC911FC}"/>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4</a:t>
            </a:r>
          </a:p>
        </p:txBody>
      </p:sp>
      <p:sp>
        <p:nvSpPr>
          <p:cNvPr id="5" name="context-heading">
            <a:extLst xmlns:a="http://schemas.openxmlformats.org/drawingml/2006/main">
              <a:ext uri="{FF2B5EF4-FFF2-40B4-BE49-F238E27FC236}">
                <a16:creationId xmlns:a16="http://schemas.microsoft.com/office/drawing/2014/main" id="{6D6DDCB7-0A62-4307-AB97-3D40B5D1D546}"/>
              </a:ext>
            </a:extLst>
          </p:cNvPr>
          <p:cNvSpPr>
            <a:spLocks xmlns:a="http://schemas.openxmlformats.org/drawingml/2006/main" noGrp="1"/>
          </p:cNvSpPr>
          <p:nvPr/>
        </p:nvSpPr>
        <p:spPr>
          <a:xfrm xmlns:a="http://schemas.openxmlformats.org/drawingml/2006/main">
            <a:off x="720000" y="1562100"/>
            <a:ext cx="4362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Library integration</a:t>
            </a:r>
          </a:p>
        </p:txBody>
      </p:sp>
      <p:sp>
        <p:nvSpPr>
          <p:cNvPr id="6" name="parallel-heading">
            <a:extLst xmlns:a="http://schemas.openxmlformats.org/drawingml/2006/main">
              <a:ext uri="{FF2B5EF4-FFF2-40B4-BE49-F238E27FC236}">
                <a16:creationId xmlns:a16="http://schemas.microsoft.com/office/drawing/2014/main" id="{5DC7371F-08A1-47CA-B539-4B94A42EBF14}"/>
              </a:ext>
            </a:extLst>
          </p:cNvPr>
          <p:cNvSpPr>
            <a:spLocks xmlns:a="http://schemas.openxmlformats.org/drawingml/2006/main" noGrp="1"/>
          </p:cNvSpPr>
          <p:nvPr/>
        </p:nvSpPr>
        <p:spPr>
          <a:xfrm xmlns:a="http://schemas.openxmlformats.org/drawingml/2006/main">
            <a:off x="5610225" y="1562100"/>
            <a:ext cx="4361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Parallel interpolation</a:t>
            </a:r>
          </a:p>
        </p:txBody>
      </p:sp>
      <p:sp>
        <p:nvSpPr>
          <p:cNvPr id="7" name="context-contract">
            <a:extLst xmlns:a="http://schemas.openxmlformats.org/drawingml/2006/main">
              <a:ext uri="{FF2B5EF4-FFF2-40B4-BE49-F238E27FC236}">
                <a16:creationId xmlns:a16="http://schemas.microsoft.com/office/drawing/2014/main" id="{C8944705-4B75-41E7-9A94-D6F225A77198}"/>
              </a:ext>
            </a:extLst>
          </p:cNvPr>
          <p:cNvSpPr>
            <a:spLocks xmlns:a="http://schemas.openxmlformats.org/drawingml/2006/main" noGrp="1"/>
          </p:cNvSpPr>
          <p:nvPr/>
        </p:nvSpPr>
        <p:spPr>
          <a:xfrm xmlns:a="http://schemas.openxmlformats.org/drawingml/2006/main">
            <a:off x="720000" y="2095500"/>
            <a:ext cx="436245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Chains and branching topologies use the same tree implementation.</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The old TT-only patching crate has been retired.</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A shared engine interface keeps the patch driver independent of TreeTCI.</a:t>
            </a:r>
          </a:p>
        </p:txBody>
      </p:sp>
      <p:sp>
        <p:nvSpPr>
          <p:cNvPr id="8" name="parallel-integration">
            <a:extLst xmlns:a="http://schemas.openxmlformats.org/drawingml/2006/main">
              <a:ext uri="{FF2B5EF4-FFF2-40B4-BE49-F238E27FC236}">
                <a16:creationId xmlns:a16="http://schemas.microsoft.com/office/drawing/2014/main" id="{BD5943BE-A068-4415-9380-D8B26E38C9DC}"/>
              </a:ext>
            </a:extLst>
          </p:cNvPr>
          <p:cNvSpPr>
            <a:spLocks xmlns:a="http://schemas.openxmlformats.org/drawingml/2006/main" noGrp="1"/>
          </p:cNvSpPr>
          <p:nvPr/>
        </p:nvSpPr>
        <p:spPr>
          <a:xfrm xmlns:a="http://schemas.openxmlformats.org/drawingml/2006/main">
            <a:off x="5610225" y="2095500"/>
            <a:ext cx="43617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Shinaoka added local and MPI execution after the tree driver merged.</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Independent patches can run across workers or MPI ranks.</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Small consistency tests pass. Performance scaling still needs measurement.</a:t>
            </a:r>
          </a:p>
        </p:txBody>
      </p:sp>
      <p:sp>
        <p:nvSpPr>
          <p:cNvPr id="9" name="collaboration">
            <a:extLst xmlns:a="http://schemas.openxmlformats.org/drawingml/2006/main">
              <a:ext uri="{FF2B5EF4-FFF2-40B4-BE49-F238E27FC236}">
                <a16:creationId xmlns:a16="http://schemas.microsoft.com/office/drawing/2014/main" id="{F90E45AD-D0DA-49B0-BC7A-DDB7600A9C35}"/>
              </a:ext>
            </a:extLst>
          </p:cNvPr>
          <p:cNvSpPr>
            <a:spLocks xmlns:a="http://schemas.openxmlformats.org/drawingml/2006/main" noGrp="1"/>
          </p:cNvSpPr>
          <p:nvPr/>
        </p:nvSpPr>
        <p:spPr>
          <a:xfrm xmlns:a="http://schemas.openxmlformats.org/drawingml/2006/main">
            <a:off x="720000" y="4857750"/>
            <a:ext cx="891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1">
                <a:solidFill>
                  <a:srgbClr val="000000"/>
                </a:solidFill>
                <a:latin typeface="Hiragino Sans"/>
                <a:ea typeface="Hiragino Sans"/>
                <a:cs typeface="Hiragino Sans"/>
              </a:defRPr>
            </a:defPPr>
          </a:lstStyle>
          <a:p xmlns:a="http://schemas.openxmlformats.org/drawingml/2006/main">
            <a:pPr algn="l">
              <a:lnSpc>
                <a:spcPct val="130000"/>
              </a:lnSpc>
              <a:buNone/>
              <a:defRPr sz="1400" b="1">
                <a:solidFill>
                  <a:srgbClr val="000000"/>
                </a:solidFill>
                <a:latin typeface="Hiragino Sans"/>
                <a:ea typeface="Hiragino Sans"/>
                <a:cs typeface="Hiragino Sans"/>
              </a:defRPr>
            </a:pPr>
            <a:r>
              <a:rPr sz="1400" b="1">
                <a:solidFill>
                  <a:srgbClr val="000000"/>
                </a:solidFill>
                <a:latin typeface="Hiragino Sans"/>
                <a:ea typeface="Hiragino Sans"/>
                <a:cs typeface="Hiragino Sans"/>
              </a:rPr>
              <a:t>Tree driver: L. Cheng (#900). Local/MPI integration: H. Shinaoka (#1005).</a:t>
            </a:r>
          </a:p>
        </p:txBody>
      </p:sp>
      <p:sp>
        <p:nvSpPr>
          <p:cNvPr id="10" name="parallel-limit">
            <a:extLst xmlns:a="http://schemas.openxmlformats.org/drawingml/2006/main">
              <a:ext uri="{FF2B5EF4-FFF2-40B4-BE49-F238E27FC236}">
                <a16:creationId xmlns:a16="http://schemas.microsoft.com/office/drawing/2014/main" id="{ADF45DA7-8238-49FF-81CF-BA862310E0DA}"/>
              </a:ext>
            </a:extLst>
          </p:cNvPr>
          <p:cNvSpPr>
            <a:spLocks xmlns:a="http://schemas.openxmlformats.org/drawingml/2006/main" noGrp="1"/>
          </p:cNvSpPr>
          <p:nvPr/>
        </p:nvSpPr>
        <p:spPr>
          <a:xfrm xmlns:a="http://schemas.openxmlformats.org/drawingml/2006/main">
            <a:off x="720000" y="5257800"/>
            <a:ext cx="891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777777"/>
                </a:solidFill>
                <a:latin typeface="Hiragino Sans"/>
                <a:ea typeface="Hiragino Sans"/>
                <a:cs typeface="Hiragino Sans"/>
              </a:defRPr>
            </a:defPPr>
          </a:lstStyle>
          <a:p xmlns:a="http://schemas.openxmlformats.org/drawingml/2006/main">
            <a:pPr algn="l">
              <a:lnSpc>
                <a:spcPct val="130000"/>
              </a:lnSpc>
              <a:buNone/>
              <a:defRPr sz="1300" b="0">
                <a:solidFill>
                  <a:srgbClr val="777777"/>
                </a:solidFill>
                <a:latin typeface="Hiragino Sans"/>
                <a:ea typeface="Hiragino Sans"/>
                <a:cs typeface="Hiragino Sans"/>
              </a:defRPr>
            </a:pPr>
            <a:r>
              <a:rPr sz="1300" b="0">
                <a:solidFill>
                  <a:srgbClr val="777777"/>
                </a:solidFill>
                <a:latin typeface="Hiragino Sans"/>
                <a:ea typeface="Hiragino Sans"/>
                <a:cs typeface="Hiragino Sans"/>
              </a:rPr>
              <a:t>Scaling and reproducibility across all supported tree layouts still need validation.</a:t>
            </a:r>
          </a:p>
        </p:txBody>
      </p:sp>
      <p:sp>
        <p:nvSpPr>
          <p:cNvPr id="11" name="integration-source">
            <a:extLst xmlns:a="http://schemas.openxmlformats.org/drawingml/2006/main">
              <a:ext uri="{FF2B5EF4-FFF2-40B4-BE49-F238E27FC236}">
                <a16:creationId xmlns:a16="http://schemas.microsoft.com/office/drawing/2014/main" id="{29FB36D7-5FBC-4793-B2A0-B46EBB2AEC38}"/>
              </a:ext>
            </a:extLst>
          </p:cNvPr>
          <p:cNvSpPr>
            <a:spLocks xmlns:a="http://schemas.openxmlformats.org/drawingml/2006/main" noGrp="1"/>
          </p:cNvSpPr>
          <p:nvPr/>
        </p:nvSpPr>
        <p:spPr>
          <a:xfrm xmlns:a="http://schemas.openxmlformats.org/drawingml/2006/main">
            <a:off x="720000" y="5581650"/>
            <a:ext cx="877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hlinkClick xmlns:r="http://schemas.openxmlformats.org/officeDocument/2006/relationships" r:id="R574a5475fe3648dc"/>
              </a:rPr>
              <a:t>Current tree driver and execution contract</a:t>
            </a:r>
          </a:p>
        </p:txBody>
      </p:sp>
    </p:spTree>
    <p:extLst>
      <p:ext uri="{BB962C8B-B14F-4D97-AF65-F5344CB8AC3E}">
        <p14:creationId xmlns:p14="http://schemas.microsoft.com/office/powerpoint/2010/main" val="18545298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1ED49FBC-323D-4A67-A2F1-EFB6A7F101C0}"/>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TreeRSI</a:t>
            </a:r>
          </a:p>
        </p:txBody>
      </p:sp>
      <p:sp>
        <p:nvSpPr>
          <p:cNvPr id="2" name="repository-label">
            <a:extLst xmlns:a="http://schemas.openxmlformats.org/drawingml/2006/main">
              <a:ext uri="{FF2B5EF4-FFF2-40B4-BE49-F238E27FC236}">
                <a16:creationId xmlns:a16="http://schemas.microsoft.com/office/drawing/2014/main" id="{7419F174-FA08-49CE-9910-93627D3BA634}"/>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f9d0a4f8fd584c67"/>
              </a:rPr>
              <a:t>tensor4all-rs</a:t>
            </a:r>
          </a:p>
        </p:txBody>
      </p:sp>
      <p:sp>
        <p:nvSpPr>
          <p:cNvPr id="3" name="title-rule">
            <a:extLst xmlns:a="http://schemas.openxmlformats.org/drawingml/2006/main">
              <a:ext uri="{FF2B5EF4-FFF2-40B4-BE49-F238E27FC236}">
                <a16:creationId xmlns:a16="http://schemas.microsoft.com/office/drawing/2014/main" id="{B506C94C-766D-4044-A578-3DB5B2291913}"/>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D5964CFC-8B2B-4D90-BAF4-C9A3822F8697}"/>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5</a:t>
            </a:r>
          </a:p>
        </p:txBody>
      </p:sp>
      <p:sp>
        <p:nvSpPr>
          <p:cNvPr id="5" name="rsi-contribution-heading">
            <a:extLst xmlns:a="http://schemas.openxmlformats.org/drawingml/2006/main">
              <a:ext uri="{FF2B5EF4-FFF2-40B4-BE49-F238E27FC236}">
                <a16:creationId xmlns:a16="http://schemas.microsoft.com/office/drawing/2014/main" id="{54581E51-12A8-4B38-9463-0EF74E14F1ED}"/>
              </a:ext>
            </a:extLst>
          </p:cNvPr>
          <p:cNvSpPr>
            <a:spLocks xmlns:a="http://schemas.openxmlformats.org/drawingml/2006/main" noGrp="1"/>
          </p:cNvSpPr>
          <p:nvPr/>
        </p:nvSpPr>
        <p:spPr>
          <a:xfrm xmlns:a="http://schemas.openxmlformats.org/drawingml/2006/main">
            <a:off x="720000" y="1562100"/>
            <a:ext cx="4362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Tree generalization</a:t>
            </a:r>
          </a:p>
        </p:txBody>
      </p:sp>
      <p:sp>
        <p:nvSpPr>
          <p:cNvPr id="6" name="rsi-validation-heading">
            <a:extLst xmlns:a="http://schemas.openxmlformats.org/drawingml/2006/main">
              <a:ext uri="{FF2B5EF4-FFF2-40B4-BE49-F238E27FC236}">
                <a16:creationId xmlns:a16="http://schemas.microsoft.com/office/drawing/2014/main" id="{C1922B0E-0621-4DF9-B180-9FD1B59B84BE}"/>
              </a:ext>
            </a:extLst>
          </p:cNvPr>
          <p:cNvSpPr>
            <a:spLocks xmlns:a="http://schemas.openxmlformats.org/drawingml/2006/main" noGrp="1"/>
          </p:cNvSpPr>
          <p:nvPr/>
        </p:nvSpPr>
        <p:spPr>
          <a:xfrm xmlns:a="http://schemas.openxmlformats.org/drawingml/2006/main">
            <a:off x="5610225" y="1562100"/>
            <a:ext cx="4361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Validation and limits</a:t>
            </a:r>
          </a:p>
        </p:txBody>
      </p:sp>
      <p:sp>
        <p:nvSpPr>
          <p:cNvPr id="7" name="rsi-contribution">
            <a:extLst xmlns:a="http://schemas.openxmlformats.org/drawingml/2006/main">
              <a:ext uri="{FF2B5EF4-FFF2-40B4-BE49-F238E27FC236}">
                <a16:creationId xmlns:a16="http://schemas.microsoft.com/office/drawing/2014/main" id="{0E439CC9-3730-48EC-86EE-AEE487A69918}"/>
              </a:ext>
            </a:extLst>
          </p:cNvPr>
          <p:cNvSpPr>
            <a:spLocks xmlns:a="http://schemas.openxmlformats.org/drawingml/2006/main" noGrp="1"/>
          </p:cNvSpPr>
          <p:nvPr/>
        </p:nvSpPr>
        <p:spPr>
          <a:xfrm xmlns:a="http://schemas.openxmlformats.org/drawingml/2006/main">
            <a:off x="720000" y="2095500"/>
            <a:ext cx="436245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RSI for simultaneous Hadamard products.</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Extends the original TT algorithm directly to branched trees.</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Uses sketches to avoid forming the full high-rank product.</a:t>
            </a:r>
          </a:p>
        </p:txBody>
      </p:sp>
      <p:sp>
        <p:nvSpPr>
          <p:cNvPr id="8" name="rsi-validation">
            <a:extLst xmlns:a="http://schemas.openxmlformats.org/drawingml/2006/main">
              <a:ext uri="{FF2B5EF4-FFF2-40B4-BE49-F238E27FC236}">
                <a16:creationId xmlns:a16="http://schemas.microsoft.com/office/drawing/2014/main" id="{89BC43A7-3E32-48E1-B140-B93EE2D49636}"/>
              </a:ext>
            </a:extLst>
          </p:cNvPr>
          <p:cNvSpPr>
            <a:spLocks xmlns:a="http://schemas.openxmlformats.org/drawingml/2006/main" noGrp="1"/>
          </p:cNvSpPr>
          <p:nvPr/>
        </p:nvSpPr>
        <p:spPr>
          <a:xfrm xmlns:a="http://schemas.openxmlformats.org/drawingml/2006/main">
            <a:off x="5610225" y="2095500"/>
            <a:ext cx="4361775"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Checked against the authors' TT code and against TreeACI on branched cases.</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New timings: 2.9–4.8× faster than current TreeACI in four synthetic fixtures.</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These fixtures allow full reconstruction. Tighter-rank compression still needs study.</a:t>
            </a:r>
          </a:p>
        </p:txBody>
      </p:sp>
      <p:sp>
        <p:nvSpPr>
          <p:cNvPr id="9" name="rsi-speed-caveat">
            <a:extLst xmlns:a="http://schemas.openxmlformats.org/drawingml/2006/main">
              <a:ext uri="{FF2B5EF4-FFF2-40B4-BE49-F238E27FC236}">
                <a16:creationId xmlns:a16="http://schemas.microsoft.com/office/drawing/2014/main" id="{F294634C-7E74-41B2-9EBF-884678DCDFC7}"/>
              </a:ext>
            </a:extLst>
          </p:cNvPr>
          <p:cNvSpPr>
            <a:spLocks xmlns:a="http://schemas.openxmlformats.org/drawingml/2006/main" noGrp="1"/>
          </p:cNvSpPr>
          <p:nvPr/>
        </p:nvSpPr>
        <p:spPr>
          <a:xfrm xmlns:a="http://schemas.openxmlformats.org/drawingml/2006/main">
            <a:off x="720000" y="5019675"/>
            <a:ext cx="891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777777"/>
                </a:solidFill>
                <a:latin typeface="Hiragino Sans"/>
                <a:ea typeface="Hiragino Sans"/>
                <a:cs typeface="Hiragino Sans"/>
              </a:defRPr>
            </a:defPPr>
          </a:lstStyle>
          <a:p xmlns:a="http://schemas.openxmlformats.org/drawingml/2006/main">
            <a:pPr algn="l">
              <a:lnSpc>
                <a:spcPct val="130000"/>
              </a:lnSpc>
              <a:buNone/>
              <a:defRPr sz="1300" b="0">
                <a:solidFill>
                  <a:srgbClr val="777777"/>
                </a:solidFill>
                <a:latin typeface="Hiragino Sans"/>
                <a:ea typeface="Hiragino Sans"/>
                <a:cs typeface="Hiragino Sans"/>
              </a:defRPr>
            </a:pPr>
            <a:r>
              <a:rPr sz="1300" b="0">
                <a:solidFill>
                  <a:srgbClr val="777777"/>
                </a:solidFill>
                <a:latin typeface="Hiragino Sans"/>
                <a:ea typeface="Hiragino Sans"/>
                <a:cs typeface="Hiragino Sans"/>
              </a:rPr>
              <a:t>Experimental: accuracy at a fixed rank and variation across seeds remain limitations.</a:t>
            </a:r>
          </a:p>
        </p:txBody>
      </p:sp>
      <p:sp>
        <p:nvSpPr>
          <p:cNvPr id="10" name="rsi-reference">
            <a:extLst xmlns:a="http://schemas.openxmlformats.org/drawingml/2006/main">
              <a:ext uri="{FF2B5EF4-FFF2-40B4-BE49-F238E27FC236}">
                <a16:creationId xmlns:a16="http://schemas.microsoft.com/office/drawing/2014/main" id="{7E9E655B-D2F8-4EAF-BCDD-964CDA3DB518}"/>
              </a:ext>
            </a:extLst>
          </p:cNvPr>
          <p:cNvSpPr>
            <a:spLocks xmlns:a="http://schemas.openxmlformats.org/drawingml/2006/main" noGrp="1"/>
          </p:cNvSpPr>
          <p:nvPr/>
        </p:nvSpPr>
        <p:spPr>
          <a:xfrm xmlns:a="http://schemas.openxmlformats.org/drawingml/2006/main">
            <a:off x="720000" y="5581650"/>
            <a:ext cx="877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hlinkClick xmlns:r="http://schemas.openxmlformats.org/officeDocument/2006/relationships" r:id="R5844af4b7ba9445a"/>
              </a:rPr>
              <a:t>Meng, Khoo, Li and Stoudenmire, arXiv:2602.17974</a:t>
            </a:r>
          </a:p>
        </p:txBody>
      </p:sp>
    </p:spTree>
    <p:extLst>
      <p:ext uri="{BB962C8B-B14F-4D97-AF65-F5344CB8AC3E}">
        <p14:creationId xmlns:p14="http://schemas.microsoft.com/office/powerpoint/2010/main" val="528250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06F17694-EFD0-4BF4-95C8-467C9F492330}"/>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Reliability of the tree methods</a:t>
            </a:r>
          </a:p>
        </p:txBody>
      </p:sp>
      <p:sp>
        <p:nvSpPr>
          <p:cNvPr id="2" name="repository-label">
            <a:extLst xmlns:a="http://schemas.openxmlformats.org/drawingml/2006/main">
              <a:ext uri="{FF2B5EF4-FFF2-40B4-BE49-F238E27FC236}">
                <a16:creationId xmlns:a16="http://schemas.microsoft.com/office/drawing/2014/main" id="{FD418BD0-CB50-4B1E-9469-EAFF25D02A4A}"/>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a7868c8268014629"/>
              </a:rPr>
              <a:t>tensor4all-rs</a:t>
            </a:r>
          </a:p>
        </p:txBody>
      </p:sp>
      <p:sp>
        <p:nvSpPr>
          <p:cNvPr id="3" name="title-rule">
            <a:extLst xmlns:a="http://schemas.openxmlformats.org/drawingml/2006/main">
              <a:ext uri="{FF2B5EF4-FFF2-40B4-BE49-F238E27FC236}">
                <a16:creationId xmlns:a16="http://schemas.microsoft.com/office/drawing/2014/main" id="{30D9C2AE-2FF1-40E4-96C5-C569F8B6D235}"/>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A1408A65-58B3-430C-91CD-5FCD2C341611}"/>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6</a:t>
            </a:r>
          </a:p>
        </p:txBody>
      </p:sp>
      <p:sp>
        <p:nvSpPr>
          <p:cNvPr id="5" name="convergence-heading">
            <a:extLst xmlns:a="http://schemas.openxmlformats.org/drawingml/2006/main">
              <a:ext uri="{FF2B5EF4-FFF2-40B4-BE49-F238E27FC236}">
                <a16:creationId xmlns:a16="http://schemas.microsoft.com/office/drawing/2014/main" id="{B7856224-63EA-4214-B017-8480F0E35925}"/>
              </a:ext>
            </a:extLst>
          </p:cNvPr>
          <p:cNvSpPr>
            <a:spLocks xmlns:a="http://schemas.openxmlformats.org/drawingml/2006/main" noGrp="1"/>
          </p:cNvSpPr>
          <p:nvPr/>
        </p:nvSpPr>
        <p:spPr>
          <a:xfrm xmlns:a="http://schemas.openxmlformats.org/drawingml/2006/main">
            <a:off x="720000" y="1552575"/>
            <a:ext cx="925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Search and convergence</a:t>
            </a:r>
          </a:p>
        </p:txBody>
      </p:sp>
      <p:sp>
        <p:nvSpPr>
          <p:cNvPr id="6" name="convergence-detail">
            <a:extLst xmlns:a="http://schemas.openxmlformats.org/drawingml/2006/main">
              <a:ext uri="{FF2B5EF4-FFF2-40B4-BE49-F238E27FC236}">
                <a16:creationId xmlns:a16="http://schemas.microsoft.com/office/drawing/2014/main" id="{842E6828-7201-447D-A2D0-40DD0E66CDFB}"/>
              </a:ext>
            </a:extLst>
          </p:cNvPr>
          <p:cNvSpPr>
            <a:spLocks xmlns:a="http://schemas.openxmlformats.org/drawingml/2006/main" noGrp="1"/>
          </p:cNvSpPr>
          <p:nvPr/>
        </p:nvSpPr>
        <p:spPr>
          <a:xfrm xmlns:a="http://schemas.openxmlformats.org/drawingml/2006/main">
            <a:off x="720000" y="1971675"/>
            <a:ext cx="9137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Hiragino Sans"/>
                <a:ea typeface="Hiragino Sans"/>
                <a:cs typeface="Hiragino Sans"/>
              </a:defRPr>
            </a:defPPr>
          </a:lstStyle>
          <a:p xmlns:a="http://schemas.openxmlformats.org/drawingml/2006/main">
            <a:pPr algn="l">
              <a:lnSpc>
                <a:spcPct val="130000"/>
              </a:lnSpc>
              <a:buNone/>
              <a:defRPr sz="1800" b="0">
                <a:solidFill>
                  <a:srgbClr val="000000"/>
                </a:solidFill>
                <a:latin typeface="Hiragino Sans"/>
                <a:ea typeface="Hiragino Sans"/>
                <a:cs typeface="Hiragino Sans"/>
              </a:defRPr>
            </a:pPr>
            <a:r>
              <a:rPr sz="1800" b="0">
                <a:solidFill>
                  <a:srgbClr val="000000"/>
                </a:solidFill>
                <a:latin typeface="Hiragino Sans"/>
                <a:ea typeface="Hiragino Sans"/>
                <a:cs typeface="Hiragino Sans"/>
              </a:rPr>
              <a:t>TreeTCI keeps search improvements and processes new pivots before stopping. TreeACI rechecks previously detected failures.</a:t>
            </a:r>
          </a:p>
        </p:txBody>
      </p:sp>
      <p:sp>
        <p:nvSpPr>
          <p:cNvPr id="7" name="numerics-heading">
            <a:extLst xmlns:a="http://schemas.openxmlformats.org/drawingml/2006/main">
              <a:ext uri="{FF2B5EF4-FFF2-40B4-BE49-F238E27FC236}">
                <a16:creationId xmlns:a16="http://schemas.microsoft.com/office/drawing/2014/main" id="{E2BF1B3F-8A0F-4DB3-9BAD-1D53C9A1A042}"/>
              </a:ext>
            </a:extLst>
          </p:cNvPr>
          <p:cNvSpPr>
            <a:spLocks xmlns:a="http://schemas.openxmlformats.org/drawingml/2006/main" noGrp="1"/>
          </p:cNvSpPr>
          <p:nvPr/>
        </p:nvSpPr>
        <p:spPr>
          <a:xfrm xmlns:a="http://schemas.openxmlformats.org/drawingml/2006/main">
            <a:off x="720000" y="2914650"/>
            <a:ext cx="925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Tree structure</a:t>
            </a:r>
          </a:p>
        </p:txBody>
      </p:sp>
      <p:sp>
        <p:nvSpPr>
          <p:cNvPr id="8" name="numerics-detail">
            <a:extLst xmlns:a="http://schemas.openxmlformats.org/drawingml/2006/main">
              <a:ext uri="{FF2B5EF4-FFF2-40B4-BE49-F238E27FC236}">
                <a16:creationId xmlns:a16="http://schemas.microsoft.com/office/drawing/2014/main" id="{0A1FD3EF-F8CD-4A35-AA6F-428AC3B80050}"/>
              </a:ext>
            </a:extLst>
          </p:cNvPr>
          <p:cNvSpPr>
            <a:spLocks xmlns:a="http://schemas.openxmlformats.org/drawingml/2006/main" noGrp="1"/>
          </p:cNvSpPr>
          <p:nvPr/>
        </p:nvSpPr>
        <p:spPr>
          <a:xfrm xmlns:a="http://schemas.openxmlformats.org/drawingml/2006/main">
            <a:off x="720000" y="3333750"/>
            <a:ext cx="9137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Hiragino Sans"/>
                <a:ea typeface="Hiragino Sans"/>
                <a:cs typeface="Hiragino Sans"/>
              </a:defRPr>
            </a:defPPr>
          </a:lstStyle>
          <a:p xmlns:a="http://schemas.openxmlformats.org/drawingml/2006/main">
            <a:pPr algn="l">
              <a:lnSpc>
                <a:spcPct val="130000"/>
              </a:lnSpc>
              <a:buNone/>
              <a:defRPr sz="1800" b="0">
                <a:solidFill>
                  <a:srgbClr val="000000"/>
                </a:solidFill>
                <a:latin typeface="Hiragino Sans"/>
                <a:ea typeface="Hiragino Sans"/>
                <a:cs typeface="Hiragino Sans"/>
              </a:defRPr>
            </a:pPr>
            <a:r>
              <a:rPr sz="1800" b="0">
                <a:solidFill>
                  <a:srgbClr val="000000"/>
                </a:solidFill>
                <a:latin typeface="Hiragino Sans"/>
                <a:ea typeface="Hiragino Sans"/>
                <a:cs typeface="Hiragino Sans"/>
              </a:rPr>
              <a:t>Site-free junctions can grow their ranks. Basic TreeTN operations now handle nodes with no physical sites.</a:t>
            </a:r>
          </a:p>
        </p:txBody>
      </p:sp>
      <p:sp>
        <p:nvSpPr>
          <p:cNvPr id="9" name="evaluation-heading">
            <a:extLst xmlns:a="http://schemas.openxmlformats.org/drawingml/2006/main">
              <a:ext uri="{FF2B5EF4-FFF2-40B4-BE49-F238E27FC236}">
                <a16:creationId xmlns:a16="http://schemas.microsoft.com/office/drawing/2014/main" id="{69B24531-6793-44DB-B159-FECCB0352A61}"/>
              </a:ext>
            </a:extLst>
          </p:cNvPr>
          <p:cNvSpPr>
            <a:spLocks xmlns:a="http://schemas.openxmlformats.org/drawingml/2006/main" noGrp="1"/>
          </p:cNvSpPr>
          <p:nvPr/>
        </p:nvSpPr>
        <p:spPr>
          <a:xfrm xmlns:a="http://schemas.openxmlformats.org/drawingml/2006/main">
            <a:off x="720000" y="4267200"/>
            <a:ext cx="925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Numerical reliability</a:t>
            </a:r>
          </a:p>
        </p:txBody>
      </p:sp>
      <p:sp>
        <p:nvSpPr>
          <p:cNvPr id="10" name="evaluation-detail">
            <a:extLst xmlns:a="http://schemas.openxmlformats.org/drawingml/2006/main">
              <a:ext uri="{FF2B5EF4-FFF2-40B4-BE49-F238E27FC236}">
                <a16:creationId xmlns:a16="http://schemas.microsoft.com/office/drawing/2014/main" id="{ECA9C204-7AF5-465C-80FB-1A45EB5D5F76}"/>
              </a:ext>
            </a:extLst>
          </p:cNvPr>
          <p:cNvSpPr>
            <a:spLocks xmlns:a="http://schemas.openxmlformats.org/drawingml/2006/main" noGrp="1"/>
          </p:cNvSpPr>
          <p:nvPr/>
        </p:nvSpPr>
        <p:spPr>
          <a:xfrm xmlns:a="http://schemas.openxmlformats.org/drawingml/2006/main">
            <a:off x="720000" y="4686300"/>
            <a:ext cx="9137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Hiragino Sans"/>
                <a:ea typeface="Hiragino Sans"/>
                <a:cs typeface="Hiragino Sans"/>
              </a:defRPr>
            </a:defPPr>
          </a:lstStyle>
          <a:p xmlns:a="http://schemas.openxmlformats.org/drawingml/2006/main">
            <a:pPr algn="l">
              <a:lnSpc>
                <a:spcPct val="130000"/>
              </a:lnSpc>
              <a:buNone/>
              <a:defRPr sz="1800" b="0">
                <a:solidFill>
                  <a:srgbClr val="000000"/>
                </a:solidFill>
                <a:latin typeface="Hiragino Sans"/>
                <a:ea typeface="Hiragino Sans"/>
                <a:cs typeface="Hiragino Sans"/>
              </a:defRPr>
            </a:pPr>
            <a:r>
              <a:rPr sz="1800" b="0">
                <a:solidFill>
                  <a:srgbClr val="000000"/>
                </a:solidFill>
                <a:latin typeface="Hiragino Sans"/>
                <a:ea typeface="Hiragino Sans"/>
                <a:cs typeface="Hiragino Sans"/>
              </a:rPr>
              <a:t>Preserve small nonzero contributions, reject NaN/Inf and make tolerance handling consistent across scales.</a:t>
            </a:r>
          </a:p>
        </p:txBody>
      </p:sp>
      <p:sp>
        <p:nvSpPr>
          <p:cNvPr id="11" name="reliability-references">
            <a:extLst xmlns:a="http://schemas.openxmlformats.org/drawingml/2006/main">
              <a:ext uri="{FF2B5EF4-FFF2-40B4-BE49-F238E27FC236}">
                <a16:creationId xmlns:a16="http://schemas.microsoft.com/office/drawing/2014/main" id="{6942F726-6860-4EC7-9AB9-F9050822559C}"/>
              </a:ext>
            </a:extLst>
          </p:cNvPr>
          <p:cNvSpPr>
            <a:spLocks xmlns:a="http://schemas.openxmlformats.org/drawingml/2006/main" noGrp="1"/>
          </p:cNvSpPr>
          <p:nvPr/>
        </p:nvSpPr>
        <p:spPr>
          <a:xfrm xmlns:a="http://schemas.openxmlformats.org/drawingml/2006/main">
            <a:off x="720000" y="5581650"/>
            <a:ext cx="877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hlinkClick xmlns:r="http://schemas.openxmlformats.org/officeDocument/2006/relationships" r:id="R476cf51ee1c34c14"/>
              </a:rPr>
              <a:t>Fixes by L. Cheng, with later site-free operation support completed by H. Shinaoka.</a:t>
            </a:r>
          </a:p>
        </p:txBody>
      </p:sp>
    </p:spTree>
    <p:extLst>
      <p:ext uri="{BB962C8B-B14F-4D97-AF65-F5344CB8AC3E}">
        <p14:creationId xmlns:p14="http://schemas.microsoft.com/office/powerpoint/2010/main" val="9501851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89B0A9E-0B32-429C-BD9E-8EE772CD118B}"/>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Evaluation and memory</a:t>
            </a:r>
          </a:p>
        </p:txBody>
      </p:sp>
      <p:sp>
        <p:nvSpPr>
          <p:cNvPr id="2" name="repository-label">
            <a:extLst xmlns:a="http://schemas.openxmlformats.org/drawingml/2006/main">
              <a:ext uri="{FF2B5EF4-FFF2-40B4-BE49-F238E27FC236}">
                <a16:creationId xmlns:a16="http://schemas.microsoft.com/office/drawing/2014/main" id="{48DCEA69-588E-433A-B749-CEC2F03FA392}"/>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8b25934f783f4fe3"/>
              </a:rPr>
              <a:t>tensor4all-rs</a:t>
            </a:r>
          </a:p>
        </p:txBody>
      </p:sp>
      <p:sp>
        <p:nvSpPr>
          <p:cNvPr id="3" name="title-rule">
            <a:extLst xmlns:a="http://schemas.openxmlformats.org/drawingml/2006/main">
              <a:ext uri="{FF2B5EF4-FFF2-40B4-BE49-F238E27FC236}">
                <a16:creationId xmlns:a16="http://schemas.microsoft.com/office/drawing/2014/main" id="{8DAB96BB-C100-486B-BF69-92811D157006}"/>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03FB0F79-E7E2-4CD0-8AF9-CD555D87111A}"/>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7</a:t>
            </a:r>
          </a:p>
        </p:txBody>
      </p:sp>
      <p:sp>
        <p:nvSpPr>
          <p:cNvPr id="5" name="readout-heading">
            <a:extLst xmlns:a="http://schemas.openxmlformats.org/drawingml/2006/main">
              <a:ext uri="{FF2B5EF4-FFF2-40B4-BE49-F238E27FC236}">
                <a16:creationId xmlns:a16="http://schemas.microsoft.com/office/drawing/2014/main" id="{7EB2DD7F-EB86-40A9-B627-4152B3E65023}"/>
              </a:ext>
            </a:extLst>
          </p:cNvPr>
          <p:cNvSpPr>
            <a:spLocks xmlns:a="http://schemas.openxmlformats.org/drawingml/2006/main" noGrp="1"/>
          </p:cNvSpPr>
          <p:nvPr/>
        </p:nvSpPr>
        <p:spPr>
          <a:xfrm xmlns:a="http://schemas.openxmlformats.org/drawingml/2006/main">
            <a:off x="720000" y="1562100"/>
            <a:ext cx="4362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Repeated network readout</a:t>
            </a:r>
          </a:p>
        </p:txBody>
      </p:sp>
      <p:sp>
        <p:nvSpPr>
          <p:cNvPr id="6" name="target-heading">
            <a:extLst xmlns:a="http://schemas.openxmlformats.org/drawingml/2006/main">
              <a:ext uri="{FF2B5EF4-FFF2-40B4-BE49-F238E27FC236}">
                <a16:creationId xmlns:a16="http://schemas.microsoft.com/office/drawing/2014/main" id="{F5E6422A-90CD-4CF4-BBAC-FB04F64D84ED}"/>
              </a:ext>
            </a:extLst>
          </p:cNvPr>
          <p:cNvSpPr>
            <a:spLocks xmlns:a="http://schemas.openxmlformats.org/drawingml/2006/main" noGrp="1"/>
          </p:cNvSpPr>
          <p:nvPr/>
        </p:nvSpPr>
        <p:spPr>
          <a:xfrm xmlns:a="http://schemas.openxmlformats.org/drawingml/2006/main">
            <a:off x="5610225" y="1562100"/>
            <a:ext cx="4361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Expensive target functions</a:t>
            </a:r>
          </a:p>
        </p:txBody>
      </p:sp>
      <p:sp>
        <p:nvSpPr>
          <p:cNvPr id="7" name="readout-summary">
            <a:extLst xmlns:a="http://schemas.openxmlformats.org/drawingml/2006/main">
              <a:ext uri="{FF2B5EF4-FFF2-40B4-BE49-F238E27FC236}">
                <a16:creationId xmlns:a16="http://schemas.microsoft.com/office/drawing/2014/main" id="{C28C6C41-5B20-4709-8B31-00E09896D198}"/>
              </a:ext>
            </a:extLst>
          </p:cNvPr>
          <p:cNvSpPr>
            <a:spLocks xmlns:a="http://schemas.openxmlformats.org/drawingml/2006/main" noGrp="1"/>
          </p:cNvSpPr>
          <p:nvPr/>
        </p:nvSpPr>
        <p:spPr>
          <a:xfrm xmlns:a="http://schemas.openxmlformats.org/drawingml/2006/main">
            <a:off x="720000" y="2095500"/>
            <a:ext cx="43624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Reuse cached subtree contractions when reading the current approximation.</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Fully cached queries avoid rebuilding work already available.</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Bound buffers and cache growth to reduce memory pressure.</a:t>
            </a:r>
          </a:p>
        </p:txBody>
      </p:sp>
      <p:sp>
        <p:nvSpPr>
          <p:cNvPr id="8" name="target-summary">
            <a:extLst xmlns:a="http://schemas.openxmlformats.org/drawingml/2006/main">
              <a:ext uri="{FF2B5EF4-FFF2-40B4-BE49-F238E27FC236}">
                <a16:creationId xmlns:a16="http://schemas.microsoft.com/office/drawing/2014/main" id="{A7B9A577-0D02-462F-A30E-65A4B5BEBE27}"/>
              </a:ext>
            </a:extLst>
          </p:cNvPr>
          <p:cNvSpPr>
            <a:spLocks xmlns:a="http://schemas.openxmlformats.org/drawingml/2006/main" noGrp="1"/>
          </p:cNvSpPr>
          <p:nvPr/>
        </p:nvSpPr>
        <p:spPr>
          <a:xfrm xmlns:a="http://schemas.openxmlformats.org/drawingml/2006/main">
            <a:off x="5610225" y="2095500"/>
            <a:ext cx="43617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Optionally reuse target values across interpolation stages.</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Default off. Useful when each function evaluation is costly.</a:t>
            </a:r>
          </a:p>
          <a:p xmlns:a="http://schemas.openxmlformats.org/drawingml/2006/main">
            <a:pPr marL="228600" indent="-228600" algn="l">
              <a:spcAft>
                <a:spcPts val="1300"/>
              </a:spcAft>
              <a:buChar char="•"/>
              <a:defRPr sz="1700" b="0">
                <a:solidFill>
                  <a:srgbClr val="000000"/>
                </a:solidFill>
                <a:latin typeface="Hiragino Sans"/>
                <a:ea typeface="Hiragino Sans"/>
                <a:cs typeface="Hiragino Sans"/>
              </a:defRPr>
            </a:pPr>
            <a:r>
              <a:t>Synthetic benchmark: 12.8× faster overall, versus 4.2× with memo off.</a:t>
            </a:r>
          </a:p>
        </p:txBody>
      </p:sp>
      <p:sp>
        <p:nvSpPr>
          <p:cNvPr id="9" name="cache-distinction">
            <a:extLst xmlns:a="http://schemas.openxmlformats.org/drawingml/2006/main">
              <a:ext uri="{FF2B5EF4-FFF2-40B4-BE49-F238E27FC236}">
                <a16:creationId xmlns:a16="http://schemas.microsoft.com/office/drawing/2014/main" id="{5DDA3D0C-9F9B-4BD9-8A2F-E7156DF34CBE}"/>
              </a:ext>
            </a:extLst>
          </p:cNvPr>
          <p:cNvSpPr>
            <a:spLocks xmlns:a="http://schemas.openxmlformats.org/drawingml/2006/main" noGrp="1"/>
          </p:cNvSpPr>
          <p:nvPr/>
        </p:nvSpPr>
        <p:spPr>
          <a:xfrm xmlns:a="http://schemas.openxmlformats.org/drawingml/2006/main">
            <a:off x="720000" y="5095875"/>
            <a:ext cx="891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777777"/>
                </a:solidFill>
                <a:latin typeface="Hiragino Sans"/>
                <a:ea typeface="Hiragino Sans"/>
                <a:cs typeface="Hiragino Sans"/>
              </a:defRPr>
            </a:defPPr>
          </a:lstStyle>
          <a:p xmlns:a="http://schemas.openxmlformats.org/drawingml/2006/main">
            <a:pPr algn="l">
              <a:lnSpc>
                <a:spcPct val="130000"/>
              </a:lnSpc>
              <a:buNone/>
              <a:defRPr sz="1300" b="0">
                <a:solidFill>
                  <a:srgbClr val="777777"/>
                </a:solidFill>
                <a:latin typeface="Hiragino Sans"/>
                <a:ea typeface="Hiragino Sans"/>
                <a:cs typeface="Hiragino Sans"/>
              </a:defRPr>
            </a:pPr>
            <a:r>
              <a:rPr sz="1300" b="0">
                <a:solidFill>
                  <a:srgbClr val="777777"/>
                </a:solidFill>
                <a:latin typeface="Hiragino Sans"/>
                <a:ea typeface="Hiragino Sans"/>
                <a:cs typeface="Hiragino Sans"/>
              </a:rPr>
              <a:t>The two caches save network readout and target evaluation, respectively.</a:t>
            </a:r>
          </a:p>
        </p:txBody>
      </p:sp>
      <p:sp>
        <p:nvSpPr>
          <p:cNvPr id="10" name="cache-references">
            <a:extLst xmlns:a="http://schemas.openxmlformats.org/drawingml/2006/main">
              <a:ext uri="{FF2B5EF4-FFF2-40B4-BE49-F238E27FC236}">
                <a16:creationId xmlns:a16="http://schemas.microsoft.com/office/drawing/2014/main" id="{27DB5884-B075-4AB6-9F97-CC5E3CFE2CFB}"/>
              </a:ext>
            </a:extLst>
          </p:cNvPr>
          <p:cNvSpPr>
            <a:spLocks xmlns:a="http://schemas.openxmlformats.org/drawingml/2006/main" noGrp="1"/>
          </p:cNvSpPr>
          <p:nvPr/>
        </p:nvSpPr>
        <p:spPr>
          <a:xfrm xmlns:a="http://schemas.openxmlformats.org/drawingml/2006/main">
            <a:off x="720000" y="5581650"/>
            <a:ext cx="877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hlinkClick xmlns:r="http://schemas.openxmlformats.org/officeDocument/2006/relationships" r:id="R5dd7568918644142"/>
              </a:rPr>
              <a:t>L. Cheng: cached readout (#798, #865), target memo (#852) and memory bounds (#846).</a:t>
            </a:r>
          </a:p>
        </p:txBody>
      </p:sp>
    </p:spTree>
    <p:extLst>
      <p:ext uri="{BB962C8B-B14F-4D97-AF65-F5344CB8AC3E}">
        <p14:creationId xmlns:p14="http://schemas.microsoft.com/office/powerpoint/2010/main" val="11860549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EAF5D99-576B-4BDB-BC76-18374167FB23}"/>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Benchmark: improvements</a:t>
            </a:r>
          </a:p>
        </p:txBody>
      </p:sp>
      <p:sp>
        <p:nvSpPr>
          <p:cNvPr id="2" name="repository-label">
            <a:extLst xmlns:a="http://schemas.openxmlformats.org/drawingml/2006/main">
              <a:ext uri="{FF2B5EF4-FFF2-40B4-BE49-F238E27FC236}">
                <a16:creationId xmlns:a16="http://schemas.microsoft.com/office/drawing/2014/main" id="{E4C6F892-DA5F-4CBE-AE63-F50E6EAF4C9F}"/>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968cd8e422c04e64"/>
              </a:rPr>
              <a:t>tensor4all-rs</a:t>
            </a:r>
          </a:p>
        </p:txBody>
      </p:sp>
      <p:sp>
        <p:nvSpPr>
          <p:cNvPr id="3" name="title-rule">
            <a:extLst xmlns:a="http://schemas.openxmlformats.org/drawingml/2006/main">
              <a:ext uri="{FF2B5EF4-FFF2-40B4-BE49-F238E27FC236}">
                <a16:creationId xmlns:a16="http://schemas.microsoft.com/office/drawing/2014/main" id="{5F3D6C76-4115-40CA-88A7-EC0A3EFC8282}"/>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61BB2F5C-4F87-44C5-866D-2DFF7BD90573}"/>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8</a:t>
            </a:r>
          </a:p>
        </p:txBody>
      </p:sp>
      <p:sp>
        <p:nvSpPr>
          <p:cNvPr id="5" name="benchmark-versions">
            <a:extLst xmlns:a="http://schemas.openxmlformats.org/drawingml/2006/main">
              <a:ext uri="{FF2B5EF4-FFF2-40B4-BE49-F238E27FC236}">
                <a16:creationId xmlns:a16="http://schemas.microsoft.com/office/drawing/2014/main" id="{955C56FF-7676-4A5E-880E-92A19E97D973}"/>
              </a:ext>
            </a:extLst>
          </p:cNvPr>
          <p:cNvSpPr>
            <a:spLocks xmlns:a="http://schemas.openxmlformats.org/drawingml/2006/main" noGrp="1"/>
          </p:cNvSpPr>
          <p:nvPr/>
        </p:nvSpPr>
        <p:spPr>
          <a:xfrm xmlns:a="http://schemas.openxmlformats.org/drawingml/2006/main">
            <a:off x="720000" y="1495425"/>
            <a:ext cx="896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777777"/>
                </a:solidFill>
                <a:latin typeface="Hiragino Sans"/>
                <a:ea typeface="Hiragino Sans"/>
                <a:cs typeface="Hiragino Sans"/>
              </a:defRPr>
            </a:defPPr>
          </a:lstStyle>
          <a:p xmlns:a="http://schemas.openxmlformats.org/drawingml/2006/main">
            <a:pPr algn="l">
              <a:lnSpc>
                <a:spcPct val="130000"/>
              </a:lnSpc>
              <a:buNone/>
              <a:defRPr sz="1400" b="0">
                <a:solidFill>
                  <a:srgbClr val="777777"/>
                </a:solidFill>
                <a:latin typeface="Hiragino Sans"/>
                <a:ea typeface="Hiragino Sans"/>
                <a:cs typeface="Hiragino Sans"/>
              </a:defRPr>
            </a:pPr>
            <a:r>
              <a:rPr sz="1400" b="0">
                <a:solidFill>
                  <a:srgbClr val="777777"/>
                </a:solidFill>
                <a:latin typeface="Hiragino Sans"/>
                <a:ea typeface="Hiragino Sans"/>
                <a:cs typeface="Hiragino Sans"/>
              </a:rPr>
              <a:t>September baseline 4fee1a32 versus October main 9222cbee</a:t>
            </a:r>
          </a:p>
        </p:txBody>
      </p:sp>
      <p:graphicFrame>
        <p:nvGraphicFramePr>
          <p:cNvPr id="6" name="Chart">
            <a:extLst xmlns:a="http://schemas.openxmlformats.org/drawingml/2006/main">
              <a:ext uri="{FF2B5EF4-FFF2-40B4-BE49-F238E27FC236}">
                <a16:creationId xmlns:a16="http://schemas.microsoft.com/office/drawing/2014/main" id="{E85EC28E-EC8F-43EF-91FC-4D1586207D10}"/>
              </a:ext>
            </a:extLst>
          </p:cNvPr>
          <p:cNvGraphicFramePr/>
          <p:nvPr/>
        </p:nvGraphicFramePr>
        <p:xfrm>
          <a:off xmlns:a="http://schemas.openxmlformats.org/drawingml/2006/main" x="720000" y="1933575"/>
          <a:ext xmlns:a="http://schemas.openxmlformats.org/drawingml/2006/main" cx="9137700" cy="2857500"/>
        </p:xfrm>
        <a:graphic xmlns:a="http://schemas.openxmlformats.org/drawingml/2006/main">
          <a:graphicData uri="http://schemas.openxmlformats.org/drawingml/2006/chart">
            <c:chart xmlns:r="http://schemas.openxmlformats.org/officeDocument/2006/relationships" xmlns:c="http://schemas.openxmlformats.org/drawingml/2006/chart" r:id="R3efe5fdeecb94f8a"/>
          </a:graphicData>
        </a:graphic>
      </p:graphicFrame>
      <p:sp>
        <p:nvSpPr>
          <p:cNvPr id="7" name="benchmark-ratio-label">
            <a:extLst xmlns:a="http://schemas.openxmlformats.org/drawingml/2006/main">
              <a:ext uri="{FF2B5EF4-FFF2-40B4-BE49-F238E27FC236}">
                <a16:creationId xmlns:a16="http://schemas.microsoft.com/office/drawing/2014/main" id="{85E8CEA3-E577-4F15-8A9D-F5A84D96FABC}"/>
              </a:ext>
            </a:extLst>
          </p:cNvPr>
          <p:cNvSpPr>
            <a:spLocks xmlns:a="http://schemas.openxmlformats.org/drawingml/2006/main" noGrp="1"/>
          </p:cNvSpPr>
          <p:nvPr/>
        </p:nvSpPr>
        <p:spPr>
          <a:xfrm xmlns:a="http://schemas.openxmlformats.org/drawingml/2006/main">
            <a:off x="720000" y="4848225"/>
            <a:ext cx="896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777777"/>
                </a:solidFill>
                <a:latin typeface="Hiragino Sans"/>
                <a:ea typeface="Hiragino Sans"/>
                <a:cs typeface="Hiragino Sans"/>
              </a:defRPr>
            </a:defPPr>
          </a:lstStyle>
          <a:p xmlns:a="http://schemas.openxmlformats.org/drawingml/2006/main">
            <a:pPr algn="l">
              <a:lnSpc>
                <a:spcPct val="130000"/>
              </a:lnSpc>
              <a:buNone/>
              <a:defRPr sz="1300" b="0">
                <a:solidFill>
                  <a:srgbClr val="777777"/>
                </a:solidFill>
                <a:latin typeface="Hiragino Sans"/>
                <a:ea typeface="Hiragino Sans"/>
                <a:cs typeface="Hiragino Sans"/>
              </a:defRPr>
            </a:pPr>
            <a:r>
              <a:rPr sz="1300" b="0">
                <a:solidFill>
                  <a:srgbClr val="777777"/>
                </a:solidFill>
                <a:latin typeface="Hiragino Sans"/>
                <a:ea typeface="Hiragino Sans"/>
                <a:cs typeface="Hiragino Sans"/>
              </a:rPr>
              <a:t>Speedup = old median time / new median time</a:t>
            </a:r>
          </a:p>
        </p:txBody>
      </p:sp>
      <p:sp>
        <p:nvSpPr>
          <p:cNvPr id="8" name="benchmark-conditions">
            <a:extLst xmlns:a="http://schemas.openxmlformats.org/drawingml/2006/main">
              <a:ext uri="{FF2B5EF4-FFF2-40B4-BE49-F238E27FC236}">
                <a16:creationId xmlns:a16="http://schemas.microsoft.com/office/drawing/2014/main" id="{558B112D-2209-401C-B1F8-7A9043164DCF}"/>
              </a:ext>
            </a:extLst>
          </p:cNvPr>
          <p:cNvSpPr>
            <a:spLocks xmlns:a="http://schemas.openxmlformats.org/drawingml/2006/main" noGrp="1"/>
          </p:cNvSpPr>
          <p:nvPr/>
        </p:nvSpPr>
        <p:spPr>
          <a:xfrm xmlns:a="http://schemas.openxmlformats.org/drawingml/2006/main">
            <a:off x="720000" y="5238750"/>
            <a:ext cx="891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0" b="0">
                <a:solidFill>
                  <a:srgbClr val="777777"/>
                </a:solidFill>
                <a:latin typeface="Hiragino Sans"/>
                <a:ea typeface="Hiragino Sans"/>
                <a:cs typeface="Hiragino Sans"/>
              </a:defRPr>
            </a:defPPr>
          </a:lstStyle>
          <a:p xmlns:a="http://schemas.openxmlformats.org/drawingml/2006/main">
            <a:pPr algn="l">
              <a:lnSpc>
                <a:spcPct val="130000"/>
              </a:lnSpc>
              <a:buNone/>
              <a:defRPr sz="1150" b="0">
                <a:solidFill>
                  <a:srgbClr val="777777"/>
                </a:solidFill>
                <a:latin typeface="Hiragino Sans"/>
                <a:ea typeface="Hiragino Sans"/>
                <a:cs typeface="Hiragino Sans"/>
              </a:defRPr>
            </a:pPr>
            <a:r>
              <a:rPr sz="1150" b="0">
                <a:solidFill>
                  <a:srgbClr val="777777"/>
                </a:solidFill>
                <a:latin typeface="Hiragino Sans"/>
                <a:ea typeface="Hiragino Sans"/>
                <a:cs typeface="Hiragino Sans"/>
              </a:rPr>
              <a:t>Ryzen 9 6900HX, one CPU thread, release. Five alternating rounds; independent error checks.</a:t>
            </a:r>
          </a:p>
        </p:txBody>
      </p:sp>
      <p:sp>
        <p:nvSpPr>
          <p:cNvPr id="9" name="benchmark-attribution">
            <a:extLst xmlns:a="http://schemas.openxmlformats.org/drawingml/2006/main">
              <a:ext uri="{FF2B5EF4-FFF2-40B4-BE49-F238E27FC236}">
                <a16:creationId xmlns:a16="http://schemas.microsoft.com/office/drawing/2014/main" id="{6FF3CCBB-0019-4752-A454-6B5E00FBB905}"/>
              </a:ext>
            </a:extLst>
          </p:cNvPr>
          <p:cNvSpPr>
            <a:spLocks xmlns:a="http://schemas.openxmlformats.org/drawingml/2006/main" noGrp="1"/>
          </p:cNvSpPr>
          <p:nvPr/>
        </p:nvSpPr>
        <p:spPr>
          <a:xfrm xmlns:a="http://schemas.openxmlformats.org/drawingml/2006/main">
            <a:off x="720000" y="5562600"/>
            <a:ext cx="877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rPr>
              <a:t>Version differences include the whole team and backend updates.</a:t>
            </a:r>
          </a:p>
        </p:txBody>
      </p:sp>
    </p:spTree>
    <p:extLst>
      <p:ext uri="{BB962C8B-B14F-4D97-AF65-F5344CB8AC3E}">
        <p14:creationId xmlns:p14="http://schemas.microsoft.com/office/powerpoint/2010/main" val="4454860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36159753-F261-4BDA-98D3-C048222B0BDC}"/>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Benchmark: costs and limits</a:t>
            </a:r>
          </a:p>
        </p:txBody>
      </p:sp>
      <p:sp>
        <p:nvSpPr>
          <p:cNvPr id="2" name="repository-label">
            <a:extLst xmlns:a="http://schemas.openxmlformats.org/drawingml/2006/main">
              <a:ext uri="{FF2B5EF4-FFF2-40B4-BE49-F238E27FC236}">
                <a16:creationId xmlns:a16="http://schemas.microsoft.com/office/drawing/2014/main" id="{02DAC912-2056-4A9C-BF77-CFC83182FBB4}"/>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b107c8f2e0694e80"/>
              </a:rPr>
              <a:t>tensor4all-rs</a:t>
            </a:r>
          </a:p>
        </p:txBody>
      </p:sp>
      <p:sp>
        <p:nvSpPr>
          <p:cNvPr id="3" name="title-rule">
            <a:extLst xmlns:a="http://schemas.openxmlformats.org/drawingml/2006/main">
              <a:ext uri="{FF2B5EF4-FFF2-40B4-BE49-F238E27FC236}">
                <a16:creationId xmlns:a16="http://schemas.microsoft.com/office/drawing/2014/main" id="{019227F3-A5B5-4EEE-8982-844137779944}"/>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1769D8DC-8CD2-40B3-8541-07F831DD1645}"/>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9</a:t>
            </a:r>
          </a:p>
        </p:txBody>
      </p:sp>
      <p:sp>
        <p:nvSpPr>
          <p:cNvPr id="5" name="guard-cost-heading">
            <a:extLst xmlns:a="http://schemas.openxmlformats.org/drawingml/2006/main">
              <a:ext uri="{FF2B5EF4-FFF2-40B4-BE49-F238E27FC236}">
                <a16:creationId xmlns:a16="http://schemas.microsoft.com/office/drawing/2014/main" id="{3A392040-8EDA-4A98-9631-FBD1A8807D4C}"/>
              </a:ext>
            </a:extLst>
          </p:cNvPr>
          <p:cNvSpPr>
            <a:spLocks xmlns:a="http://schemas.openxmlformats.org/drawingml/2006/main" noGrp="1"/>
          </p:cNvSpPr>
          <p:nvPr/>
        </p:nvSpPr>
        <p:spPr>
          <a:xfrm xmlns:a="http://schemas.openxmlformats.org/drawingml/2006/main">
            <a:off x="720000" y="1562100"/>
            <a:ext cx="4362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TreeACI: checking costs</a:t>
            </a:r>
          </a:p>
        </p:txBody>
      </p:sp>
      <p:sp>
        <p:nvSpPr>
          <p:cNvPr id="6" name="guard-cost-detail">
            <a:extLst xmlns:a="http://schemas.openxmlformats.org/drawingml/2006/main">
              <a:ext uri="{FF2B5EF4-FFF2-40B4-BE49-F238E27FC236}">
                <a16:creationId xmlns:a16="http://schemas.microsoft.com/office/drawing/2014/main" id="{637EF24E-3F21-4F00-80C7-A345EC0ED09A}"/>
              </a:ext>
            </a:extLst>
          </p:cNvPr>
          <p:cNvSpPr>
            <a:spLocks xmlns:a="http://schemas.openxmlformats.org/drawingml/2006/main" noGrp="1"/>
          </p:cNvSpPr>
          <p:nvPr/>
        </p:nvSpPr>
        <p:spPr>
          <a:xfrm xmlns:a="http://schemas.openxmlformats.org/drawingml/2006/main">
            <a:off x="720000" y="2076450"/>
            <a:ext cx="4248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algn="l">
              <a:lnSpc>
                <a:spcPct val="130000"/>
              </a:lnSpc>
              <a:buNone/>
              <a:defRPr sz="1700" b="0">
                <a:solidFill>
                  <a:srgbClr val="000000"/>
                </a:solidFill>
                <a:latin typeface="Hiragino Sans"/>
                <a:ea typeface="Hiragino Sans"/>
                <a:cs typeface="Hiragino Sans"/>
              </a:defRPr>
            </a:pPr>
            <a:r>
              <a:rPr sz="1700" b="0">
                <a:solidFill>
                  <a:srgbClr val="000000"/>
                </a:solidFill>
                <a:latin typeface="Hiragino Sans"/>
                <a:ea typeface="Hiragino Sans"/>
                <a:cs typeface="Hiragino Sans"/>
              </a:rPr>
              <a:t>High-rank products take 1.5–2.1× longer.</a:t>
            </a:r>
          </a:p>
          <a:p xmlns:a="http://schemas.openxmlformats.org/drawingml/2006/main">
            <a:pPr algn="l">
              <a:lnSpc>
                <a:spcPct val="130000"/>
              </a:lnSpc>
              <a:buNone/>
              <a:defRPr sz="1700" b="0">
                <a:solidFill>
                  <a:srgbClr val="000000"/>
                </a:solidFill>
                <a:latin typeface="Hiragino Sans"/>
                <a:ea typeface="Hiragino Sans"/>
                <a:cs typeface="Hiragino Sans"/>
              </a:defRPr>
            </a:pPr>
            <a:r>
              <a:rPr sz="1700" b="0">
                <a:solidFill>
                  <a:srgbClr val="000000"/>
                </a:solidFill>
                <a:latin typeface="Hiragino Sans"/>
                <a:ea typeface="Hiragino Sans"/>
                <a:cs typeface="Hiragino Sans"/>
              </a:rPr>
              <a:t>Guard now runs even without injection headroom.</a:t>
            </a:r>
          </a:p>
        </p:txBody>
      </p:sp>
      <p:sp>
        <p:nvSpPr>
          <p:cNvPr id="7" name="cache-cost-heading">
            <a:extLst xmlns:a="http://schemas.openxmlformats.org/drawingml/2006/main">
              <a:ext uri="{FF2B5EF4-FFF2-40B4-BE49-F238E27FC236}">
                <a16:creationId xmlns:a16="http://schemas.microsoft.com/office/drawing/2014/main" id="{B8B989EC-7885-4AB5-B535-F3CFD0EC73BE}"/>
              </a:ext>
            </a:extLst>
          </p:cNvPr>
          <p:cNvSpPr>
            <a:spLocks xmlns:a="http://schemas.openxmlformats.org/drawingml/2006/main" noGrp="1"/>
          </p:cNvSpPr>
          <p:nvPr/>
        </p:nvSpPr>
        <p:spPr>
          <a:xfrm xmlns:a="http://schemas.openxmlformats.org/drawingml/2006/main">
            <a:off x="720000" y="3609975"/>
            <a:ext cx="436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Hiragino Sans"/>
                <a:ea typeface="Hiragino Sans"/>
                <a:cs typeface="Hiragino Sans"/>
              </a:defRPr>
            </a:defPPr>
          </a:lstStyle>
          <a:p xmlns:a="http://schemas.openxmlformats.org/drawingml/2006/main">
            <a:pPr algn="l">
              <a:lnSpc>
                <a:spcPct val="130000"/>
              </a:lnSpc>
              <a:buNone/>
              <a:defRPr sz="1800" b="1">
                <a:solidFill>
                  <a:srgbClr val="000000"/>
                </a:solidFill>
                <a:latin typeface="Hiragino Sans"/>
                <a:ea typeface="Hiragino Sans"/>
                <a:cs typeface="Hiragino Sans"/>
              </a:defRPr>
            </a:pPr>
            <a:r>
              <a:rPr sz="1800" b="1">
                <a:solidFill>
                  <a:srgbClr val="000000"/>
                </a:solidFill>
                <a:latin typeface="Hiragino Sans"/>
                <a:ea typeface="Hiragino Sans"/>
                <a:cs typeface="Hiragino Sans"/>
              </a:rPr>
              <a:t>Cache defaults</a:t>
            </a:r>
          </a:p>
        </p:txBody>
      </p:sp>
      <p:sp>
        <p:nvSpPr>
          <p:cNvPr id="8" name="cache-cost-detail">
            <a:extLst xmlns:a="http://schemas.openxmlformats.org/drawingml/2006/main">
              <a:ext uri="{FF2B5EF4-FFF2-40B4-BE49-F238E27FC236}">
                <a16:creationId xmlns:a16="http://schemas.microsoft.com/office/drawing/2014/main" id="{53623677-CBDA-4697-962B-23D1290634CA}"/>
              </a:ext>
            </a:extLst>
          </p:cNvPr>
          <p:cNvSpPr>
            <a:spLocks xmlns:a="http://schemas.openxmlformats.org/drawingml/2006/main" noGrp="1"/>
          </p:cNvSpPr>
          <p:nvPr/>
        </p:nvSpPr>
        <p:spPr>
          <a:xfrm xmlns:a="http://schemas.openxmlformats.org/drawingml/2006/main">
            <a:off x="720000" y="4076700"/>
            <a:ext cx="4248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algn="l">
              <a:lnSpc>
                <a:spcPct val="130000"/>
              </a:lnSpc>
              <a:buNone/>
              <a:defRPr sz="1700" b="0">
                <a:solidFill>
                  <a:srgbClr val="000000"/>
                </a:solidFill>
                <a:latin typeface="Hiragino Sans"/>
                <a:ea typeface="Hiragino Sans"/>
                <a:cs typeface="Hiragino Sans"/>
              </a:defRPr>
            </a:pPr>
            <a:r>
              <a:rPr sz="1700" b="0">
                <a:solidFill>
                  <a:srgbClr val="000000"/>
                </a:solidFill>
                <a:latin typeface="Hiragino Sans"/>
                <a:ea typeface="Hiragino Sans"/>
                <a:cs typeface="Hiragino Sans"/>
              </a:rPr>
              <a:t>Comb χ=64: 1.3–1.5× slower.</a:t>
            </a:r>
          </a:p>
          <a:p xmlns:a="http://schemas.openxmlformats.org/drawingml/2006/main">
            <a:pPr algn="l">
              <a:lnSpc>
                <a:spcPct val="130000"/>
              </a:lnSpc>
              <a:buNone/>
              <a:defRPr sz="1700" b="0">
                <a:solidFill>
                  <a:srgbClr val="000000"/>
                </a:solidFill>
                <a:latin typeface="Hiragino Sans"/>
                <a:ea typeface="Hiragino Sans"/>
                <a:cs typeface="Hiragino Sans"/>
              </a:defRPr>
            </a:pPr>
            <a:r>
              <a:rPr sz="1700" b="0">
                <a:solidFill>
                  <a:srgbClr val="000000"/>
                </a:solidFill>
                <a:latin typeface="Hiragino Sans"/>
                <a:ea typeface="Hiragino Sans"/>
                <a:cs typeface="Hiragino Sans"/>
              </a:rPr>
              <a:t>Same cache/chunk settings: about 1.0×.</a:t>
            </a:r>
          </a:p>
        </p:txBody>
      </p:sp>
      <p:sp>
        <p:nvSpPr>
          <p:cNvPr id="9" name="patch-cost-heading">
            <a:extLst xmlns:a="http://schemas.openxmlformats.org/drawingml/2006/main">
              <a:ext uri="{FF2B5EF4-FFF2-40B4-BE49-F238E27FC236}">
                <a16:creationId xmlns:a16="http://schemas.microsoft.com/office/drawing/2014/main" id="{B70AFD02-9112-4133-8B7E-D67598C00C2D}"/>
              </a:ext>
            </a:extLst>
          </p:cNvPr>
          <p:cNvSpPr>
            <a:spLocks xmlns:a="http://schemas.openxmlformats.org/drawingml/2006/main" noGrp="1"/>
          </p:cNvSpPr>
          <p:nvPr/>
        </p:nvSpPr>
        <p:spPr>
          <a:xfrm xmlns:a="http://schemas.openxmlformats.org/drawingml/2006/main">
            <a:off x="5610225" y="1562100"/>
            <a:ext cx="4361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000000"/>
                </a:solidFill>
                <a:latin typeface="Hiragino Sans"/>
                <a:ea typeface="Hiragino Sans"/>
                <a:cs typeface="Hiragino Sans"/>
              </a:defRPr>
            </a:defPPr>
          </a:lstStyle>
          <a:p xmlns:a="http://schemas.openxmlformats.org/drawingml/2006/main">
            <a:pPr algn="l">
              <a:lnSpc>
                <a:spcPct val="130000"/>
              </a:lnSpc>
              <a:buNone/>
              <a:defRPr sz="1900" b="1">
                <a:solidFill>
                  <a:srgbClr val="000000"/>
                </a:solidFill>
                <a:latin typeface="Hiragino Sans"/>
                <a:ea typeface="Hiragino Sans"/>
                <a:cs typeface="Hiragino Sans"/>
              </a:defRPr>
            </a:pPr>
            <a:r>
              <a:rPr sz="1900" b="1">
                <a:solidFill>
                  <a:srgbClr val="000000"/>
                </a:solidFill>
                <a:latin typeface="Hiragino Sans"/>
                <a:ea typeface="Hiragino Sans"/>
                <a:cs typeface="Hiragino Sans"/>
              </a:rPr>
              <a:t>Patching counterexample</a:t>
            </a:r>
          </a:p>
        </p:txBody>
      </p:sp>
      <p:sp>
        <p:nvSpPr>
          <p:cNvPr id="10" name="patch-cost-context">
            <a:extLst xmlns:a="http://schemas.openxmlformats.org/drawingml/2006/main">
              <a:ext uri="{FF2B5EF4-FFF2-40B4-BE49-F238E27FC236}">
                <a16:creationId xmlns:a16="http://schemas.microsoft.com/office/drawing/2014/main" id="{BE6CCE0F-B6B5-4E84-9A0E-274868AB7670}"/>
              </a:ext>
            </a:extLst>
          </p:cNvPr>
          <p:cNvSpPr>
            <a:spLocks xmlns:a="http://schemas.openxmlformats.org/drawingml/2006/main" noGrp="1"/>
          </p:cNvSpPr>
          <p:nvPr/>
        </p:nvSpPr>
        <p:spPr>
          <a:xfrm xmlns:a="http://schemas.openxmlformats.org/drawingml/2006/main">
            <a:off x="5610225" y="2076450"/>
            <a:ext cx="42855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000000"/>
                </a:solidFill>
                <a:latin typeface="Hiragino Sans"/>
                <a:ea typeface="Hiragino Sans"/>
                <a:cs typeface="Hiragino Sans"/>
              </a:defRPr>
            </a:defPPr>
          </a:lstStyle>
          <a:p xmlns:a="http://schemas.openxmlformats.org/drawingml/2006/main">
            <a:pPr algn="l">
              <a:lnSpc>
                <a:spcPct val="130000"/>
              </a:lnSpc>
              <a:buNone/>
              <a:defRPr sz="1600" b="0">
                <a:solidFill>
                  <a:srgbClr val="000000"/>
                </a:solidFill>
                <a:latin typeface="Hiragino Sans"/>
                <a:ea typeface="Hiragino Sans"/>
                <a:cs typeface="Hiragino Sans"/>
              </a:defRPr>
            </a:pPr>
            <a:r>
              <a:rPr sz="1600" b="0">
                <a:solidFill>
                  <a:srgbClr val="000000"/>
                </a:solidFill>
                <a:latin typeface="Hiragino Sans"/>
                <a:ea typeface="Hiragino Sans"/>
                <a:cs typeface="Hiragino Sans"/>
              </a:rPr>
              <a:t>3D spectral function, η=0.03.</a:t>
            </a:r>
          </a:p>
          <a:p xmlns:a="http://schemas.openxmlformats.org/drawingml/2006/main">
            <a:pPr algn="l">
              <a:lnSpc>
                <a:spcPct val="130000"/>
              </a:lnSpc>
              <a:buNone/>
              <a:defRPr sz="1600" b="0">
                <a:solidFill>
                  <a:srgbClr val="000000"/>
                </a:solidFill>
                <a:latin typeface="Hiragino Sans"/>
                <a:ea typeface="Hiragino Sans"/>
                <a:cs typeface="Hiragino Sans"/>
              </a:defRPr>
            </a:pPr>
            <a:r>
              <a:rPr sz="1600" b="0">
                <a:solidFill>
                  <a:srgbClr val="000000"/>
                </a:solidFill>
                <a:latin typeface="Hiragino Sans"/>
                <a:ea typeface="Hiragino Sans"/>
                <a:cs typeface="Hiragino Sans"/>
              </a:rPr>
              <a:t>Old mono TCI versus new patched TCI.</a:t>
            </a:r>
          </a:p>
        </p:txBody>
      </p:sp>
      <p:sp>
        <p:nvSpPr>
          <p:cNvPr id="11" name="patch-cost-time">
            <a:extLst xmlns:a="http://schemas.openxmlformats.org/drawingml/2006/main">
              <a:ext uri="{FF2B5EF4-FFF2-40B4-BE49-F238E27FC236}">
                <a16:creationId xmlns:a16="http://schemas.microsoft.com/office/drawing/2014/main" id="{65E8EA7D-0C66-4D9C-9315-DEC6A7F60E26}"/>
              </a:ext>
            </a:extLst>
          </p:cNvPr>
          <p:cNvSpPr>
            <a:spLocks xmlns:a="http://schemas.openxmlformats.org/drawingml/2006/main" noGrp="1"/>
          </p:cNvSpPr>
          <p:nvPr/>
        </p:nvSpPr>
        <p:spPr>
          <a:xfrm xmlns:a="http://schemas.openxmlformats.org/drawingml/2006/main">
            <a:off x="5610225" y="2952750"/>
            <a:ext cx="4285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000000"/>
                </a:solidFill>
                <a:latin typeface="Hiragino Sans"/>
                <a:ea typeface="Hiragino Sans"/>
                <a:cs typeface="Hiragino Sans"/>
              </a:defRPr>
            </a:defPPr>
          </a:lstStyle>
          <a:p xmlns:a="http://schemas.openxmlformats.org/drawingml/2006/main">
            <a:pPr algn="l">
              <a:lnSpc>
                <a:spcPct val="130000"/>
              </a:lnSpc>
              <a:buNone/>
              <a:defRPr sz="2200" b="1">
                <a:solidFill>
                  <a:srgbClr val="000000"/>
                </a:solidFill>
                <a:latin typeface="Hiragino Sans"/>
                <a:ea typeface="Hiragino Sans"/>
                <a:cs typeface="Hiragino Sans"/>
              </a:defRPr>
            </a:pPr>
            <a:r>
              <a:rPr sz="2200" b="1">
                <a:solidFill>
                  <a:srgbClr val="000000"/>
                </a:solidFill>
                <a:latin typeface="Hiragino Sans"/>
                <a:ea typeface="Hiragino Sans"/>
                <a:cs typeface="Hiragino Sans"/>
              </a:rPr>
              <a:t>27.9 s to 111.0 s</a:t>
            </a:r>
          </a:p>
        </p:txBody>
      </p:sp>
      <p:sp>
        <p:nvSpPr>
          <p:cNvPr id="12" name="patch-cost-error">
            <a:extLst xmlns:a="http://schemas.openxmlformats.org/drawingml/2006/main">
              <a:ext uri="{FF2B5EF4-FFF2-40B4-BE49-F238E27FC236}">
                <a16:creationId xmlns:a16="http://schemas.microsoft.com/office/drawing/2014/main" id="{97BEBEA5-A130-4484-AC71-7796C221AA1A}"/>
              </a:ext>
            </a:extLst>
          </p:cNvPr>
          <p:cNvSpPr>
            <a:spLocks xmlns:a="http://schemas.openxmlformats.org/drawingml/2006/main" noGrp="1"/>
          </p:cNvSpPr>
          <p:nvPr/>
        </p:nvSpPr>
        <p:spPr>
          <a:xfrm xmlns:a="http://schemas.openxmlformats.org/drawingml/2006/main">
            <a:off x="5610225" y="3524250"/>
            <a:ext cx="4285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algn="l">
              <a:lnSpc>
                <a:spcPct val="130000"/>
              </a:lnSpc>
              <a:buNone/>
              <a:defRPr sz="1700" b="0">
                <a:solidFill>
                  <a:srgbClr val="000000"/>
                </a:solidFill>
                <a:latin typeface="Hiragino Sans"/>
                <a:ea typeface="Hiragino Sans"/>
                <a:cs typeface="Hiragino Sans"/>
              </a:defRPr>
            </a:pPr>
            <a:r>
              <a:rPr sz="1700" b="0">
                <a:solidFill>
                  <a:srgbClr val="000000"/>
                </a:solidFill>
                <a:latin typeface="Hiragino Sans"/>
                <a:ea typeface="Hiragino Sans"/>
                <a:cs typeface="Hiragino Sans"/>
              </a:rPr>
              <a:t>Sampled relative L2:</a:t>
            </a:r>
          </a:p>
          <a:p xmlns:a="http://schemas.openxmlformats.org/drawingml/2006/main">
            <a:pPr algn="l">
              <a:lnSpc>
                <a:spcPct val="130000"/>
              </a:lnSpc>
              <a:buNone/>
              <a:defRPr sz="1700" b="0">
                <a:solidFill>
                  <a:srgbClr val="000000"/>
                </a:solidFill>
                <a:latin typeface="Hiragino Sans"/>
                <a:ea typeface="Hiragino Sans"/>
                <a:cs typeface="Hiragino Sans"/>
              </a:defRPr>
            </a:pPr>
            <a:r>
              <a:rPr sz="1700" b="0">
                <a:solidFill>
                  <a:srgbClr val="000000"/>
                </a:solidFill>
                <a:latin typeface="Hiragino Sans"/>
                <a:ea typeface="Hiragino Sans"/>
                <a:cs typeface="Hiragino Sans"/>
              </a:rPr>
              <a:t>3.1e-5 to 3.8e-4</a:t>
            </a:r>
          </a:p>
        </p:txBody>
      </p:sp>
      <p:sp>
        <p:nvSpPr>
          <p:cNvPr id="13" name="patch-cost-work">
            <a:extLst xmlns:a="http://schemas.openxmlformats.org/drawingml/2006/main">
              <a:ext uri="{FF2B5EF4-FFF2-40B4-BE49-F238E27FC236}">
                <a16:creationId xmlns:a16="http://schemas.microsoft.com/office/drawing/2014/main" id="{E8D7793B-383E-4830-932B-202DA546FF44}"/>
              </a:ext>
            </a:extLst>
          </p:cNvPr>
          <p:cNvSpPr>
            <a:spLocks xmlns:a="http://schemas.openxmlformats.org/drawingml/2006/main" noGrp="1"/>
          </p:cNvSpPr>
          <p:nvPr/>
        </p:nvSpPr>
        <p:spPr>
          <a:xfrm xmlns:a="http://schemas.openxmlformats.org/drawingml/2006/main">
            <a:off x="5610225" y="4400550"/>
            <a:ext cx="42855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Hiragino Sans"/>
                <a:ea typeface="Hiragino Sans"/>
                <a:cs typeface="Hiragino Sans"/>
              </a:defRPr>
            </a:defPPr>
          </a:lstStyle>
          <a:p xmlns:a="http://schemas.openxmlformats.org/drawingml/2006/main">
            <a:pPr algn="l">
              <a:lnSpc>
                <a:spcPct val="130000"/>
              </a:lnSpc>
              <a:buNone/>
              <a:defRPr sz="1700" b="0">
                <a:solidFill>
                  <a:srgbClr val="000000"/>
                </a:solidFill>
                <a:latin typeface="Hiragino Sans"/>
                <a:ea typeface="Hiragino Sans"/>
                <a:cs typeface="Hiragino Sans"/>
              </a:defRPr>
            </a:pPr>
            <a:r>
              <a:rPr sz="1700" b="0">
                <a:solidFill>
                  <a:srgbClr val="000000"/>
                </a:solidFill>
                <a:latin typeface="Hiragino Sans"/>
                <a:ea typeface="Hiragino Sans"/>
                <a:cs typeface="Hiragino Sans"/>
              </a:rPr>
              <a:t>5.8× fewer oracle points,</a:t>
            </a:r>
          </a:p>
          <a:p xmlns:a="http://schemas.openxmlformats.org/drawingml/2006/main">
            <a:pPr algn="l">
              <a:lnSpc>
                <a:spcPct val="130000"/>
              </a:lnSpc>
              <a:buNone/>
              <a:defRPr sz="1700" b="0">
                <a:solidFill>
                  <a:srgbClr val="000000"/>
                </a:solidFill>
                <a:latin typeface="Hiragino Sans"/>
                <a:ea typeface="Hiragino Sans"/>
                <a:cs typeface="Hiragino Sans"/>
              </a:defRPr>
            </a:pPr>
            <a:r>
              <a:rPr sz="1700" b="0">
                <a:solidFill>
                  <a:srgbClr val="000000"/>
                </a:solidFill>
                <a:latin typeface="Hiragino Sans"/>
                <a:ea typeface="Hiragino Sans"/>
                <a:cs typeface="Hiragino Sans"/>
              </a:rPr>
              <a:t>5.0× more stored parameters.</a:t>
            </a:r>
          </a:p>
        </p:txBody>
      </p:sp>
      <p:sp>
        <p:nvSpPr>
          <p:cNvPr id="14" name="cost-interpretation">
            <a:extLst xmlns:a="http://schemas.openxmlformats.org/drawingml/2006/main">
              <a:ext uri="{FF2B5EF4-FFF2-40B4-BE49-F238E27FC236}">
                <a16:creationId xmlns:a16="http://schemas.microsoft.com/office/drawing/2014/main" id="{3C3D9858-9EA8-4229-A3E4-756BD7AB69DC}"/>
              </a:ext>
            </a:extLst>
          </p:cNvPr>
          <p:cNvSpPr>
            <a:spLocks xmlns:a="http://schemas.openxmlformats.org/drawingml/2006/main" noGrp="1"/>
          </p:cNvSpPr>
          <p:nvPr/>
        </p:nvSpPr>
        <p:spPr>
          <a:xfrm xmlns:a="http://schemas.openxmlformats.org/drawingml/2006/main">
            <a:off x="720000" y="5248275"/>
            <a:ext cx="8918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777777"/>
                </a:solidFill>
                <a:latin typeface="Hiragino Sans"/>
                <a:ea typeface="Hiragino Sans"/>
                <a:cs typeface="Hiragino Sans"/>
              </a:defRPr>
            </a:defPPr>
          </a:lstStyle>
          <a:p xmlns:a="http://schemas.openxmlformats.org/drawingml/2006/main">
            <a:pPr algn="l">
              <a:lnSpc>
                <a:spcPct val="130000"/>
              </a:lnSpc>
              <a:buNone/>
              <a:defRPr sz="1300" b="0">
                <a:solidFill>
                  <a:srgbClr val="777777"/>
                </a:solidFill>
                <a:latin typeface="Hiragino Sans"/>
                <a:ea typeface="Hiragino Sans"/>
                <a:cs typeface="Hiragino Sans"/>
              </a:defRPr>
            </a:pPr>
            <a:r>
              <a:rPr sz="1300" b="0">
                <a:solidFill>
                  <a:srgbClr val="777777"/>
                </a:solidFill>
                <a:latin typeface="Hiragino Sans"/>
                <a:ea typeface="Hiragino Sans"/>
                <a:cs typeface="Hiragino Sans"/>
              </a:rPr>
              <a:t>Errors differ in the patching comparison. Report time and accuracy together.</a:t>
            </a:r>
          </a:p>
        </p:txBody>
      </p:sp>
      <p:sp>
        <p:nvSpPr>
          <p:cNvPr id="15" name="cost-context">
            <a:extLst xmlns:a="http://schemas.openxmlformats.org/drawingml/2006/main">
              <a:ext uri="{FF2B5EF4-FFF2-40B4-BE49-F238E27FC236}">
                <a16:creationId xmlns:a16="http://schemas.microsoft.com/office/drawing/2014/main" id="{6BD098BD-FCBA-4417-86B0-E3ADB282A7B6}"/>
              </a:ext>
            </a:extLst>
          </p:cNvPr>
          <p:cNvSpPr>
            <a:spLocks xmlns:a="http://schemas.openxmlformats.org/drawingml/2006/main" noGrp="1"/>
          </p:cNvSpPr>
          <p:nvPr/>
        </p:nvSpPr>
        <p:spPr>
          <a:xfrm xmlns:a="http://schemas.openxmlformats.org/drawingml/2006/main">
            <a:off x="720000" y="5581650"/>
            <a:ext cx="877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rPr>
              <a:t>Patching: 24 binary sites, cap 64, 56 patches; 4,000 independent check points.</a:t>
            </a:r>
          </a:p>
        </p:txBody>
      </p:sp>
    </p:spTree>
    <p:extLst>
      <p:ext uri="{BB962C8B-B14F-4D97-AF65-F5344CB8AC3E}">
        <p14:creationId xmlns:p14="http://schemas.microsoft.com/office/powerpoint/2010/main" val="19452143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1658C9C-65BF-4831-B630-0E51E6876271}"/>
              </a:ext>
            </a:extLst>
          </p:cNvPr>
          <p:cNvSpPr>
            <a:spLocks xmlns:a="http://schemas.openxmlformats.org/drawingml/2006/main" noGrp="1"/>
          </p:cNvSpPr>
          <p:nvPr/>
        </p:nvSpPr>
        <p:spPr>
          <a:xfrm xmlns:a="http://schemas.openxmlformats.org/drawingml/2006/main">
            <a:off x="720000" y="40957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E94F37"/>
                </a:solidFill>
                <a:latin typeface="Hiragino Sans"/>
                <a:ea typeface="Hiragino Sans"/>
                <a:cs typeface="Hiragino Sans"/>
              </a:defRPr>
            </a:defPPr>
          </a:lstStyle>
          <a:p xmlns:a="http://schemas.openxmlformats.org/drawingml/2006/main">
            <a:pPr algn="l">
              <a:lnSpc>
                <a:spcPct val="110000"/>
              </a:lnSpc>
              <a:buNone/>
              <a:defRPr sz="2600" b="1">
                <a:solidFill>
                  <a:srgbClr val="E94F37"/>
                </a:solidFill>
                <a:latin typeface="Hiragino Sans"/>
                <a:ea typeface="Hiragino Sans"/>
                <a:cs typeface="Hiragino Sans"/>
              </a:defRPr>
            </a:pPr>
            <a:r>
              <a:rPr sz="2600" b="1">
                <a:solidFill>
                  <a:srgbClr val="E94F37"/>
                </a:solidFill>
                <a:latin typeface="Hiragino Sans"/>
                <a:ea typeface="Hiragino Sans"/>
                <a:cs typeface="Hiragino Sans"/>
              </a:rPr>
              <a:t>Remaining work</a:t>
            </a:r>
          </a:p>
        </p:txBody>
      </p:sp>
      <p:sp>
        <p:nvSpPr>
          <p:cNvPr id="2" name="repository-label">
            <a:extLst xmlns:a="http://schemas.openxmlformats.org/drawingml/2006/main">
              <a:ext uri="{FF2B5EF4-FFF2-40B4-BE49-F238E27FC236}">
                <a16:creationId xmlns:a16="http://schemas.microsoft.com/office/drawing/2014/main" id="{ABEC740D-998D-4BCF-8C57-B463A81ADE08}"/>
              </a:ext>
            </a:extLst>
          </p:cNvPr>
          <p:cNvSpPr>
            <a:spLocks xmlns:a="http://schemas.openxmlformats.org/drawingml/2006/main" noGrp="1"/>
          </p:cNvSpPr>
          <p:nvPr/>
        </p:nvSpPr>
        <p:spPr>
          <a:xfrm xmlns:a="http://schemas.openxmlformats.org/drawingml/2006/main">
            <a:off x="8524200" y="523875"/>
            <a:ext cx="1447800" cy="266700"/>
          </a:xfrm>
          <a:prstGeom xmlns:a="http://schemas.openxmlformats.org/drawingml/2006/main" prst="roundRect">
            <a:avLst>
              <a:gd name="adj" fmla="val 14286"/>
            </a:avLst>
          </a:prstGeom>
          <a:solidFill xmlns:a="http://schemas.openxmlformats.org/drawingml/2006/main">
            <a:srgbClr val="E94F37"/>
          </a:solidFill>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00" b="1">
                <a:solidFill>
                  <a:srgbClr val="FFFFFF"/>
                </a:solidFill>
                <a:latin typeface="Hiragino Sans"/>
                <a:ea typeface="Hiragino Sans"/>
                <a:cs typeface="Hiragino Sans"/>
              </a:defRPr>
            </a:defPPr>
          </a:lstStyle>
          <a:p xmlns:a="http://schemas.openxmlformats.org/drawingml/2006/main">
            <a:pPr algn="ctr">
              <a:defRPr sz="1300" b="1">
                <a:solidFill>
                  <a:srgbClr val="FFFFFF"/>
                </a:solidFill>
                <a:latin typeface="Hiragino Sans"/>
                <a:ea typeface="Hiragino Sans"/>
                <a:cs typeface="Hiragino Sans"/>
              </a:defRPr>
            </a:pPr>
            <a:r>
              <a:rPr sz="1300" b="1">
                <a:solidFill>
                  <a:srgbClr val="FFFFFF"/>
                </a:solidFill>
                <a:latin typeface="Hiragino Sans"/>
                <a:ea typeface="Hiragino Sans"/>
                <a:cs typeface="Hiragino Sans"/>
                <a:hlinkClick xmlns:r="http://schemas.openxmlformats.org/officeDocument/2006/relationships" r:id="Ra33d50605b844fc5"/>
              </a:rPr>
              <a:t>tensor4all-rs</a:t>
            </a:r>
          </a:p>
        </p:txBody>
      </p:sp>
      <p:sp>
        <p:nvSpPr>
          <p:cNvPr id="3" name="title-rule">
            <a:extLst xmlns:a="http://schemas.openxmlformats.org/drawingml/2006/main">
              <a:ext uri="{FF2B5EF4-FFF2-40B4-BE49-F238E27FC236}">
                <a16:creationId xmlns:a16="http://schemas.microsoft.com/office/drawing/2014/main" id="{FAC86F45-6084-4634-89D9-9815BE2B7901}"/>
              </a:ext>
            </a:extLst>
          </p:cNvPr>
          <p:cNvSpPr>
            <a:spLocks xmlns:a="http://schemas.openxmlformats.org/drawingml/2006/main" noGrp="1"/>
          </p:cNvSpPr>
          <p:nvPr/>
        </p:nvSpPr>
        <p:spPr>
          <a:xfrm xmlns:a="http://schemas.openxmlformats.org/drawingml/2006/main">
            <a:off x="720000" y="1212999"/>
            <a:ext cx="9252000" cy="0"/>
          </a:xfrm>
          <a:prstGeom xmlns:a="http://schemas.openxmlformats.org/drawingml/2006/main" prst="line">
            <a:avLst/>
          </a:prstGeom>
          <a:noFill xmlns:a="http://schemas.openxmlformats.org/drawingml/2006/main"/>
          <a:ln xmlns:a="http://schemas.openxmlformats.org/drawingml/2006/main" w="6191">
            <a:solidFill>
              <a:srgbClr val="E94F37"/>
            </a:solidFill>
          </a:ln>
        </p:spPr>
      </p:sp>
      <p:sp>
        <p:nvSpPr>
          <p:cNvPr id="4" name="page-number">
            <a:extLst xmlns:a="http://schemas.openxmlformats.org/drawingml/2006/main">
              <a:ext uri="{FF2B5EF4-FFF2-40B4-BE49-F238E27FC236}">
                <a16:creationId xmlns:a16="http://schemas.microsoft.com/office/drawing/2014/main" id="{79E97E99-0727-4BBC-A8B4-786A51468B9E}"/>
              </a:ext>
            </a:extLst>
          </p:cNvPr>
          <p:cNvSpPr>
            <a:spLocks xmlns:a="http://schemas.openxmlformats.org/drawingml/2006/main" noGrp="1"/>
          </p:cNvSpPr>
          <p:nvPr/>
        </p:nvSpPr>
        <p:spPr>
          <a:xfrm xmlns:a="http://schemas.openxmlformats.org/drawingml/2006/main">
            <a:off x="9733875" y="56102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AAAAAA"/>
                </a:solidFill>
                <a:latin typeface="Hiragino Sans"/>
                <a:ea typeface="Hiragino Sans"/>
                <a:cs typeface="Hiragino Sans"/>
              </a:defRPr>
            </a:defPPr>
          </a:lstStyle>
          <a:p xmlns:a="http://schemas.openxmlformats.org/drawingml/2006/main">
            <a:pPr algn="r">
              <a:lnSpc>
                <a:spcPct val="130000"/>
              </a:lnSpc>
              <a:buNone/>
              <a:defRPr sz="1400" b="0">
                <a:solidFill>
                  <a:srgbClr val="AAAAAA"/>
                </a:solidFill>
                <a:latin typeface="Hiragino Sans"/>
                <a:ea typeface="Hiragino Sans"/>
                <a:cs typeface="Hiragino Sans"/>
              </a:defRPr>
            </a:pPr>
            <a:r>
              <a:rPr sz="1400" b="0">
                <a:solidFill>
                  <a:srgbClr val="AAAAAA"/>
                </a:solidFill>
                <a:latin typeface="Hiragino Sans"/>
                <a:ea typeface="Hiragino Sans"/>
                <a:cs typeface="Hiragino Sans"/>
              </a:rPr>
              <a:t>10</a:t>
            </a:r>
          </a:p>
        </p:txBody>
      </p:sp>
      <p:sp>
        <p:nvSpPr>
          <p:cNvPr id="5" name="next-work">
            <a:extLst xmlns:a="http://schemas.openxmlformats.org/drawingml/2006/main">
              <a:ext uri="{FF2B5EF4-FFF2-40B4-BE49-F238E27FC236}">
                <a16:creationId xmlns:a16="http://schemas.microsoft.com/office/drawing/2014/main" id="{01D103C6-076A-486E-AC71-BD8D0BA29728}"/>
              </a:ext>
            </a:extLst>
          </p:cNvPr>
          <p:cNvSpPr>
            <a:spLocks xmlns:a="http://schemas.openxmlformats.org/drawingml/2006/main" noGrp="1"/>
          </p:cNvSpPr>
          <p:nvPr/>
        </p:nvSpPr>
        <p:spPr>
          <a:xfrm xmlns:a="http://schemas.openxmlformats.org/drawingml/2006/main">
            <a:off x="720000" y="1581150"/>
            <a:ext cx="915675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Hiragino Sans"/>
                <a:ea typeface="Hiragino Sans"/>
                <a:cs typeface="Hiragino Sans"/>
              </a:defRPr>
            </a:defPPr>
          </a:lstStyle>
          <a:p xmlns:a="http://schemas.openxmlformats.org/drawingml/2006/main">
            <a:pPr marL="228600" indent="-228600" algn="l">
              <a:spcAft>
                <a:spcPts val="1400"/>
              </a:spcAft>
              <a:buChar char="•"/>
              <a:defRPr sz="1800" b="0">
                <a:solidFill>
                  <a:srgbClr val="000000"/>
                </a:solidFill>
                <a:latin typeface="Hiragino Sans"/>
                <a:ea typeface="Hiragino Sans"/>
                <a:cs typeface="Hiragino Sans"/>
              </a:defRPr>
            </a:pPr>
            <a:r>
              <a:t>Patched MPO-MPO: complete the adaptive contraction path, with early stopping, selective refinement and sibling merging.</a:t>
            </a:r>
          </a:p>
          <a:p xmlns:a="http://schemas.openxmlformats.org/drawingml/2006/main">
            <a:pPr marL="228600" indent="-228600" algn="l">
              <a:spcAft>
                <a:spcPts val="1400"/>
              </a:spcAft>
              <a:buChar char="•"/>
              <a:defRPr sz="1800" b="0">
                <a:solidFill>
                  <a:srgbClr val="000000"/>
                </a:solidFill>
                <a:latin typeface="Hiragino Sans"/>
                <a:ea typeface="Hiragino Sans"/>
                <a:cs typeface="Hiragino Sans"/>
              </a:defRPr>
            </a:pPr>
            <a:r>
              <a:t>Accuracy: address localized residuals that escape sampled checks, and complete algebra error accounting.</a:t>
            </a:r>
          </a:p>
          <a:p xmlns:a="http://schemas.openxmlformats.org/drawingml/2006/main">
            <a:pPr marL="228600" indent="-228600" algn="l">
              <a:spcAft>
                <a:spcPts val="1400"/>
              </a:spcAft>
              <a:buChar char="•"/>
              <a:defRPr sz="1800" b="0">
                <a:solidFill>
                  <a:srgbClr val="000000"/>
                </a:solidFill>
                <a:latin typeface="Hiragino Sans"/>
                <a:ea typeface="Hiragino Sans"/>
                <a:cs typeface="Hiragino Sans"/>
              </a:defRPr>
            </a:pPr>
            <a:r>
              <a:t>TreeACI: resolve convergence issues and profile the cost of Guard checks.</a:t>
            </a:r>
          </a:p>
          <a:p xmlns:a="http://schemas.openxmlformats.org/drawingml/2006/main">
            <a:pPr marL="228600" indent="-228600" algn="l">
              <a:spcAft>
                <a:spcPts val="1400"/>
              </a:spcAft>
              <a:buChar char="•"/>
              <a:defRPr sz="1800" b="0">
                <a:solidFill>
                  <a:srgbClr val="000000"/>
                </a:solidFill>
                <a:latin typeface="Hiragino Sans"/>
                <a:ea typeface="Hiragino Sans"/>
                <a:cs typeface="Hiragino Sans"/>
              </a:defRPr>
            </a:pPr>
            <a:r>
              <a:t>Parallel execution: measure scaling of the existing local/MPI interpolation and extend the contraction side.</a:t>
            </a:r>
          </a:p>
        </p:txBody>
      </p:sp>
      <p:sp>
        <p:nvSpPr>
          <p:cNvPr id="6" name="closing-state">
            <a:extLst xmlns:a="http://schemas.openxmlformats.org/drawingml/2006/main">
              <a:ext uri="{FF2B5EF4-FFF2-40B4-BE49-F238E27FC236}">
                <a16:creationId xmlns:a16="http://schemas.microsoft.com/office/drawing/2014/main" id="{9D150219-EAFC-4F53-A99D-0F383E455603}"/>
              </a:ext>
            </a:extLst>
          </p:cNvPr>
          <p:cNvSpPr>
            <a:spLocks xmlns:a="http://schemas.openxmlformats.org/drawingml/2006/main" noGrp="1"/>
          </p:cNvSpPr>
          <p:nvPr/>
        </p:nvSpPr>
        <p:spPr>
          <a:xfrm xmlns:a="http://schemas.openxmlformats.org/drawingml/2006/main">
            <a:off x="720000" y="5076825"/>
            <a:ext cx="891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1">
                <a:solidFill>
                  <a:srgbClr val="000000"/>
                </a:solidFill>
                <a:latin typeface="Hiragino Sans"/>
                <a:ea typeface="Hiragino Sans"/>
                <a:cs typeface="Hiragino Sans"/>
              </a:defRPr>
            </a:defPPr>
          </a:lstStyle>
          <a:p xmlns:a="http://schemas.openxmlformats.org/drawingml/2006/main">
            <a:pPr algn="l">
              <a:lnSpc>
                <a:spcPct val="130000"/>
              </a:lnSpc>
              <a:buNone/>
              <a:defRPr sz="1400" b="1">
                <a:solidFill>
                  <a:srgbClr val="000000"/>
                </a:solidFill>
                <a:latin typeface="Hiragino Sans"/>
                <a:ea typeface="Hiragino Sans"/>
                <a:cs typeface="Hiragino Sans"/>
              </a:defRPr>
            </a:pPr>
            <a:r>
              <a:rPr sz="1400" b="1">
                <a:solidFill>
                  <a:srgbClr val="000000"/>
                </a:solidFill>
                <a:latin typeface="Hiragino Sans"/>
                <a:ea typeface="Hiragino Sans"/>
                <a:cs typeface="Hiragino Sans"/>
              </a:rPr>
              <a:t>Tree interpolation is in main. Full adaptive patched algebra remains the largest gap.</a:t>
            </a:r>
          </a:p>
        </p:txBody>
      </p:sp>
      <p:sp>
        <p:nvSpPr>
          <p:cNvPr id="7" name="roadmap-reference">
            <a:extLst xmlns:a="http://schemas.openxmlformats.org/drawingml/2006/main">
              <a:ext uri="{FF2B5EF4-FFF2-40B4-BE49-F238E27FC236}">
                <a16:creationId xmlns:a16="http://schemas.microsoft.com/office/drawing/2014/main" id="{AA9BACEB-05AB-448D-804B-EC9E28C6BBA9}"/>
              </a:ext>
            </a:extLst>
          </p:cNvPr>
          <p:cNvSpPr>
            <a:spLocks xmlns:a="http://schemas.openxmlformats.org/drawingml/2006/main" noGrp="1"/>
          </p:cNvSpPr>
          <p:nvPr/>
        </p:nvSpPr>
        <p:spPr>
          <a:xfrm xmlns:a="http://schemas.openxmlformats.org/drawingml/2006/main">
            <a:off x="720000" y="5581650"/>
            <a:ext cx="877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777777"/>
                </a:solidFill>
                <a:latin typeface="Hiragino Sans"/>
                <a:ea typeface="Hiragino Sans"/>
                <a:cs typeface="Hiragino Sans"/>
              </a:defRPr>
            </a:defPPr>
          </a:lstStyle>
          <a:p xmlns:a="http://schemas.openxmlformats.org/drawingml/2006/main">
            <a:pPr algn="l">
              <a:lnSpc>
                <a:spcPct val="130000"/>
              </a:lnSpc>
              <a:buNone/>
              <a:defRPr sz="1050" b="0">
                <a:solidFill>
                  <a:srgbClr val="777777"/>
                </a:solidFill>
                <a:latin typeface="Hiragino Sans"/>
                <a:ea typeface="Hiragino Sans"/>
                <a:cs typeface="Hiragino Sans"/>
              </a:defRPr>
            </a:pPr>
            <a:r>
              <a:rPr sz="1050" b="0">
                <a:solidFill>
                  <a:srgbClr val="777777"/>
                </a:solidFill>
                <a:latin typeface="Hiragino Sans"/>
                <a:ea typeface="Hiragino Sans"/>
                <a:cs typeface="Hiragino Sans"/>
                <a:hlinkClick xmlns:r="http://schemas.openxmlformats.org/officeDocument/2006/relationships" r:id="R42728b8af7454a7d"/>
              </a:rPr>
              <a:t>Roadmap and current implementation status</a:t>
            </a:r>
          </a:p>
        </p:txBody>
      </p:sp>
    </p:spTree>
    <p:extLst>
      <p:ext uri="{BB962C8B-B14F-4D97-AF65-F5344CB8AC3E}">
        <p14:creationId xmlns:p14="http://schemas.microsoft.com/office/powerpoint/2010/main" val="14227221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2026-10-25T11:16:23.6690000Z</dcterms:created>
  <dcterms:modified xsi:type="dcterms:W3CDTF">2026-10-25T11:16:23.6690000Z</dcterms:modified>
</coreProperties>
</file>